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e695939ebc4eca" /><Relationship Type="http://schemas.openxmlformats.org/officeDocument/2006/relationships/extended-properties" Target="/docProps/app.xml" Id="Re889bb9709374672" /><Relationship Type="http://schemas.openxmlformats.org/officeDocument/2006/relationships/officeDocument" Target="/ppt/presentation.xml" Id="R56b0e9927b264396" /></Relationships>
</file>

<file path=ppt/presentation.xml><?xml version="1.0" encoding="utf-8"?>
<p:presentation xmlns:p="http://schemas.openxmlformats.org/presentationml/2006/main">
  <p:sldMasterIdLst>
    <p:sldMasterId xmlns:r="http://schemas.openxmlformats.org/officeDocument/2006/relationships" id="2147483648" r:id="R92ef96dc14184a53"/>
  </p:sldMasterIdLst>
  <p:notesMasterIdLst>
    <p:notesMasterId xmlns:r="http://schemas.openxmlformats.org/officeDocument/2006/relationships" r:id="Ra15d3db9c8ec42f2"/>
  </p:notesMasterIdLst>
  <p:sldIdLst>
    <p:sldId xmlns:r="http://schemas.openxmlformats.org/officeDocument/2006/relationships" id="256" r:id="Ra024cb9b2dbb4c5e"/>
    <p:sldId xmlns:r="http://schemas.openxmlformats.org/officeDocument/2006/relationships" id="257" r:id="Rd71f3687f3ad49de"/>
    <p:sldId xmlns:r="http://schemas.openxmlformats.org/officeDocument/2006/relationships" id="258" r:id="Rcf953ccb828a4bd3"/>
    <p:sldId xmlns:r="http://schemas.openxmlformats.org/officeDocument/2006/relationships" id="259" r:id="R05bc62b609b34547"/>
    <p:sldId xmlns:r="http://schemas.openxmlformats.org/officeDocument/2006/relationships" id="260" r:id="R414dbb399d2242d0"/>
    <p:sldId xmlns:r="http://schemas.openxmlformats.org/officeDocument/2006/relationships" id="261" r:id="R0099ac9275b14c82"/>
    <p:sldId xmlns:r="http://schemas.openxmlformats.org/officeDocument/2006/relationships" id="262" r:id="R6345de00cb704209"/>
    <p:sldId xmlns:r="http://schemas.openxmlformats.org/officeDocument/2006/relationships" id="263" r:id="R4ac8e5bd7e8b4c67"/>
    <p:sldId xmlns:r="http://schemas.openxmlformats.org/officeDocument/2006/relationships" id="264" r:id="Rb895fac09ba7491f"/>
    <p:sldId xmlns:r="http://schemas.openxmlformats.org/officeDocument/2006/relationships" id="265" r:id="R8131a0c955f94a14"/>
    <p:sldId xmlns:r="http://schemas.openxmlformats.org/officeDocument/2006/relationships" id="266" r:id="Rf34e8bd894d2496c"/>
    <p:sldId xmlns:r="http://schemas.openxmlformats.org/officeDocument/2006/relationships" id="267" r:id="R9c1ecb2056fb43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5210ed919a4a23" /><Relationship Type="http://schemas.openxmlformats.org/officeDocument/2006/relationships/slideMaster" Target="/ppt/slideMasters/slideMaster1.xml" Id="R92ef96dc14184a53" /><Relationship Type="http://schemas.openxmlformats.org/officeDocument/2006/relationships/notesMaster" Target="/ppt/notesMasters/notesMaster1.xml" Id="Ra15d3db9c8ec42f2" /><Relationship Type="http://schemas.openxmlformats.org/officeDocument/2006/relationships/presProps" Target="/ppt/presProps.xml" Id="Raffef4431cf34df9" /><Relationship Type="http://schemas.openxmlformats.org/officeDocument/2006/relationships/tableStyles" Target="/ppt/tableStyles.xml" Id="R52f92e1c4efc4f0b" /><Relationship Type="http://schemas.openxmlformats.org/officeDocument/2006/relationships/slide" Target="/ppt/slides/slide1.xml" Id="Ra024cb9b2dbb4c5e" /><Relationship Type="http://schemas.openxmlformats.org/officeDocument/2006/relationships/slide" Target="/ppt/slides/slide2.xml" Id="Rd71f3687f3ad49de" /><Relationship Type="http://schemas.openxmlformats.org/officeDocument/2006/relationships/slide" Target="/ppt/slides/slide3.xml" Id="Rcf953ccb828a4bd3" /><Relationship Type="http://schemas.openxmlformats.org/officeDocument/2006/relationships/slide" Target="/ppt/slides/slide4.xml" Id="R05bc62b609b34547" /><Relationship Type="http://schemas.openxmlformats.org/officeDocument/2006/relationships/slide" Target="/ppt/slides/slide5.xml" Id="R414dbb399d2242d0" /><Relationship Type="http://schemas.openxmlformats.org/officeDocument/2006/relationships/slide" Target="/ppt/slides/slide6.xml" Id="R0099ac9275b14c82" /><Relationship Type="http://schemas.openxmlformats.org/officeDocument/2006/relationships/slide" Target="/ppt/slides/slide7.xml" Id="R6345de00cb704209" /><Relationship Type="http://schemas.openxmlformats.org/officeDocument/2006/relationships/slide" Target="/ppt/slides/slide8.xml" Id="R4ac8e5bd7e8b4c67" /><Relationship Type="http://schemas.openxmlformats.org/officeDocument/2006/relationships/slide" Target="/ppt/slides/slide9.xml" Id="Rb895fac09ba7491f" /><Relationship Type="http://schemas.openxmlformats.org/officeDocument/2006/relationships/slide" Target="/ppt/slides/slide10.xml" Id="R8131a0c955f94a14" /><Relationship Type="http://schemas.openxmlformats.org/officeDocument/2006/relationships/slide" Target="/ppt/slides/slide11.xml" Id="Rf34e8bd894d2496c" /><Relationship Type="http://schemas.openxmlformats.org/officeDocument/2006/relationships/slide" Target="/ppt/slides/slide12.xml" Id="R9c1ecb2056fb43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a8157c36d348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2ad2ccc2c54088" /><Relationship Type="http://schemas.openxmlformats.org/officeDocument/2006/relationships/notesMaster" Target="/ppt/notesMasters/notesMaster1.xml" Id="R9f993866eee444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bedabd8c3a42bb" /><Relationship Type="http://schemas.openxmlformats.org/officeDocument/2006/relationships/notesMaster" Target="/ppt/notesMasters/notesMaster1.xml" Id="R347e048534534b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2f19c963d54956" /><Relationship Type="http://schemas.openxmlformats.org/officeDocument/2006/relationships/notesMaster" Target="/ppt/notesMasters/notesMaster1.xml" Id="Rf588fb70fcb143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8ee1ecae2f4b3f" /><Relationship Type="http://schemas.openxmlformats.org/officeDocument/2006/relationships/notesMaster" Target="/ppt/notesMasters/notesMaster1.xml" Id="Rb10b0fd3099e4d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b530aa475d41e7" /><Relationship Type="http://schemas.openxmlformats.org/officeDocument/2006/relationships/notesMaster" Target="/ppt/notesMasters/notesMaster1.xml" Id="R8e9a97d2c8ea4a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9c4edfc06a4dcd" /><Relationship Type="http://schemas.openxmlformats.org/officeDocument/2006/relationships/notesMaster" Target="/ppt/notesMasters/notesMaster1.xml" Id="Re4c733f7ea7a44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2a3a7ac7984a7c" /><Relationship Type="http://schemas.openxmlformats.org/officeDocument/2006/relationships/notesMaster" Target="/ppt/notesMasters/notesMaster1.xml" Id="R94084101308947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ce87e344f7400b" /><Relationship Type="http://schemas.openxmlformats.org/officeDocument/2006/relationships/notesMaster" Target="/ppt/notesMasters/notesMaster1.xml" Id="R71712611d2be4e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33d283379c4fa4" /><Relationship Type="http://schemas.openxmlformats.org/officeDocument/2006/relationships/notesMaster" Target="/ppt/notesMasters/notesMaster1.xml" Id="Rd5a8129abe6142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4bf469c6124a6e" /><Relationship Type="http://schemas.openxmlformats.org/officeDocument/2006/relationships/notesMaster" Target="/ppt/notesMasters/notesMaster1.xml" Id="R817d9a23b5d948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7bb16fcd9f413c" /><Relationship Type="http://schemas.openxmlformats.org/officeDocument/2006/relationships/notesMaster" Target="/ppt/notesMasters/notesMaster1.xml" Id="Rcbf59db3c2374a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ecc1eba0a4465e" /><Relationship Type="http://schemas.openxmlformats.org/officeDocument/2006/relationships/notesMaster" Target="/ppt/notesMasters/notesMaster1.xml" Id="R759021debc4f4b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 members, registration numbers and lecturer: fill before submission. Introduce the project as a locally tested university system. Public hosting remains a separate deployment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are design assumptions, not findings from an invented field survey. Explain how separate manual records can make coordination harder.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index.html, the shared JavaScript, ApiController, ClinicService, one repository and V1 migration during questions. No JavaScript connects directly to MySQL.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Clinical officer uses the DOCTOR role. Spring Security authenticates users and checks access. Some read responses expose broad nested patient information; tighter field-level disclosure is a future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fictional demonstration data. The actual screens represent separate actions, not a single automatic pipeline. Invoice totals are entered manually.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primary keys, foreign keys and uniqueness. Invoice has a unique visit reference. Visit appointment reference is nullable and unique. Audit actor is stored as text, not a users foreign key. See ER diagram source and data dictionary.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encapsulation through private service dependencies and constructor injection. Repository interfaces are implemented by Spring Data. Hibernate maps entities to MySQL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call the system production-certified. Audit is not tamperproof and does not log every read or login. Use HTTPS and secure cookies when hosted. Never put passwords in shared ZIP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a transaction matters: related writes should commit together or roll back. There is one expiry value per medicine; medicine batches are not yet modeled.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user-shared Maven BUILD SUCCESS on 2 October 2026; 3 ApiSecurityTest and 5 ClinicServiceTest tests. Manual checks were reported by the user, not independently executed here. No load or public hosting test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ZIP includes source, migrations, tests and guides. The Windows launcher prompts for credentials. Initial administrator creation happens only on first run. Changing the environment does not reset an existing admin password.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10–12 minutes. Current status: local workflows and eight tests reported successful. Remaining improvements include narrower clinical data visibility, stock batches, richer reports and production operations. Hosting guide is included; no public URL has been deployed in this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008f53026e4a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88534577f549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08c7a38c3354a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a33b99be174d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7ad4f6190c44f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ce6aea3805143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AB19B9E-013D-4D31-8CAA-0560094FD592}"/>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88B8A88-77EF-4047-9388-869E558EA47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2CFE50A9-DFF0-4379-A97C-B45109A5FDB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B46AB591-BDD4-4777-A05A-862641FD8BD6}"/>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6A981AB0-C38A-4B67-BC76-FFE7717A979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29D5D39-11B0-432B-A4C9-1E43A6517F9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ACBC8C4-8F86-4475-8293-AEDB52E75D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EF67FA8E-B75A-46A0-9DE0-B22D31E8A3E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F9EE98D9-D52E-4C10-912D-3EE6D15499C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BE7E7BC-97D1-44AA-B518-76192F00D9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5C7AC62-E7F0-4021-B74A-9F9E89C3CA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CF903170-E302-4C54-B3D6-29A58C43A57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42A7694-FAE5-4EDF-A7DB-CF73B823A8A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87C1137-34DC-48D2-8B6A-8BFAEAF68A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C8A7060-1ADB-4B3B-B84B-EBA29946E5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79a66f985f407d" /><Relationship Type="http://schemas.openxmlformats.org/officeDocument/2006/relationships/slideLayout" Target="/ppt/slideLayouts/slideLayout1.xml" Id="R639de5db729248ea" /><Relationship Type="http://schemas.openxmlformats.org/officeDocument/2006/relationships/slideLayout" Target="/ppt/slideLayouts/slideLayout2.xml" Id="Rd96f3e4716f749ae" /><Relationship Type="http://schemas.openxmlformats.org/officeDocument/2006/relationships/slideLayout" Target="/ppt/slideLayouts/slideLayout3.xml" Id="R23d4b67aca0448b1" /><Relationship Type="http://schemas.openxmlformats.org/officeDocument/2006/relationships/slideLayout" Target="/ppt/slideLayouts/slideLayout4.xml" Id="R634408b5a2084851" /><Relationship Type="http://schemas.openxmlformats.org/officeDocument/2006/relationships/slideLayout" Target="/ppt/slideLayouts/slideLayout5.xml" Id="Rf5f859ef4da2461f" /><Relationship Type="http://schemas.openxmlformats.org/officeDocument/2006/relationships/slideLayout" Target="/ppt/slideLayouts/slideLayout6.xml" Id="Rd31ecba4d04545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9de5db729248ea"/>
    <p:sldLayoutId xmlns:r="http://schemas.openxmlformats.org/officeDocument/2006/relationships" id="2147483650" r:id="Rd96f3e4716f749ae"/>
    <p:sldLayoutId xmlns:r="http://schemas.openxmlformats.org/officeDocument/2006/relationships" id="2147483651" r:id="R23d4b67aca0448b1"/>
    <p:sldLayoutId xmlns:r="http://schemas.openxmlformats.org/officeDocument/2006/relationships" id="2147483652" r:id="R634408b5a2084851"/>
    <p:sldLayoutId xmlns:r="http://schemas.openxmlformats.org/officeDocument/2006/relationships" id="2147483653" r:id="Rf5f859ef4da2461f"/>
    <p:sldLayoutId xmlns:r="http://schemas.openxmlformats.org/officeDocument/2006/relationships" id="2147483654" r:id="Rd31ecba4d04545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4749ed87fa47e5" /><Relationship Type="http://schemas.openxmlformats.org/officeDocument/2006/relationships/notesSlide" Target="/ppt/notesSlides/notesSlide1.xml" Id="Re499c2f234b640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ab5dd28bc604260" /><Relationship Type="http://schemas.openxmlformats.org/officeDocument/2006/relationships/notesSlide" Target="/ppt/notesSlides/notesSlide2.xml" Id="Rbf1e691720a24e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50bd13d70ce4b9b" /><Relationship Type="http://schemas.openxmlformats.org/officeDocument/2006/relationships/notesSlide" Target="/ppt/notesSlides/notesSlide3.xml" Id="Rb2a79d00346e4e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52943eafc7d4617" /><Relationship Type="http://schemas.openxmlformats.org/officeDocument/2006/relationships/notesSlide" Target="/ppt/notesSlides/notesSlide4.xml" Id="R0f61eef0d02b46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635f301c51b4994" /><Relationship Type="http://schemas.openxmlformats.org/officeDocument/2006/relationships/notesSlide" Target="/ppt/notesSlides/notesSlide5.xml" Id="Rae28f732ead243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a36912c96646cc" /><Relationship Type="http://schemas.openxmlformats.org/officeDocument/2006/relationships/notesSlide" Target="/ppt/notesSlides/notesSlide6.xml" Id="Rd2435578445443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3c73562145145e5" /><Relationship Type="http://schemas.openxmlformats.org/officeDocument/2006/relationships/notesSlide" Target="/ppt/notesSlides/notesSlide7.xml" Id="R7773cca2ee9e42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dc8329cf90e45ac" /><Relationship Type="http://schemas.openxmlformats.org/officeDocument/2006/relationships/notesSlide" Target="/ppt/notesSlides/notesSlide8.xml" Id="R6a4519bad37247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5b2a111fb974551" /><Relationship Type="http://schemas.openxmlformats.org/officeDocument/2006/relationships/notesSlide" Target="/ppt/notesSlides/notesSlide9.xml" Id="R25152c853fd740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84e0d5d9a7d48d9" /><Relationship Type="http://schemas.openxmlformats.org/officeDocument/2006/relationships/notesSlide" Target="/ppt/notesSlides/notesSlide10.xml" Id="Ra946741db41c49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4662a5890b84ffa" /><Relationship Type="http://schemas.openxmlformats.org/officeDocument/2006/relationships/notesSlide" Target="/ppt/notesSlides/notesSlide11.xml" Id="R67d865e1d1c447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c940ba7d768478f" /><Relationship Type="http://schemas.openxmlformats.org/officeDocument/2006/relationships/notesSlide" Target="/ppt/notesSlides/notesSlide12.xml" Id="Rfad71008162c4d4a" /></Relationships>
</file>

<file path=ppt/slides/slide1.xml><?xml version="1.0" encoding="utf-8"?>
<p:sld xmlns:p="http://schemas.openxmlformats.org/presentationml/2006/main">
  <p:cSld>
    <p:bg>
      <p:bgPr>
        <a:solidFill xmlns:a="http://schemas.openxmlformats.org/drawingml/2006/main">
          <a:srgbClr val="163C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A13FF98-C4F1-4333-9A84-C8FB2A933D84}"/>
              </a:ext>
            </a:extLst>
          </p:cNvPr>
          <p:cNvSpPr>
            <a:spLocks xmlns:a="http://schemas.openxmlformats.org/drawingml/2006/main" noGrp="1"/>
          </p:cNvSpPr>
          <p:nvPr/>
        </p:nvSpPr>
        <p:spPr>
          <a:xfrm xmlns:a="http://schemas.openxmlformats.org/drawingml/2006/main">
            <a:off x="685800" y="419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CDED4"/>
                </a:solidFill>
                <a:latin typeface="Arial"/>
                <a:ea typeface="Arial"/>
                <a:cs typeface="Arial"/>
              </a:defRPr>
            </a:pPr>
            <a:r>
              <a:rPr sz="1350" b="1">
                <a:solidFill>
                  <a:srgbClr val="ACDED4"/>
                </a:solidFill>
                <a:latin typeface="Arial"/>
                <a:ea typeface="Arial"/>
                <a:cs typeface="Arial"/>
              </a:rPr>
              <a:t>GROUP PROJECT • FULL-STACK APPLICATION</a:t>
            </a:r>
          </a:p>
        </p:txBody>
      </p:sp>
      <p:sp>
        <p:nvSpPr>
          <p:cNvPr id="2" name="">
            <a:extLst xmlns:a="http://schemas.openxmlformats.org/drawingml/2006/main">
              <a:ext uri="{FF2B5EF4-FFF2-40B4-BE49-F238E27FC236}">
                <a16:creationId xmlns:a16="http://schemas.microsoft.com/office/drawing/2014/main" id="{A65C8D2B-001D-416F-9FD3-637568FC01CB}"/>
              </a:ext>
            </a:extLst>
          </p:cNvPr>
          <p:cNvSpPr>
            <a:spLocks xmlns:a="http://schemas.openxmlformats.org/drawingml/2006/main" noGrp="1"/>
          </p:cNvSpPr>
          <p:nvPr/>
        </p:nvSpPr>
        <p:spPr>
          <a:xfrm xmlns:a="http://schemas.openxmlformats.org/drawingml/2006/main">
            <a:off x="685800" y="106680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Faraja Dispensary</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Management System</a:t>
            </a:r>
          </a:p>
        </p:txBody>
      </p:sp>
      <p:sp>
        <p:nvSpPr>
          <p:cNvPr id="3" name="">
            <a:extLst xmlns:a="http://schemas.openxmlformats.org/drawingml/2006/main">
              <a:ext uri="{FF2B5EF4-FFF2-40B4-BE49-F238E27FC236}">
                <a16:creationId xmlns:a16="http://schemas.microsoft.com/office/drawing/2014/main" id="{6CA01F3B-2EFF-4C8D-AB92-79E8E5D8E301}"/>
              </a:ext>
            </a:extLst>
          </p:cNvPr>
          <p:cNvSpPr>
            <a:spLocks xmlns:a="http://schemas.openxmlformats.org/drawingml/2006/main" noGrp="1"/>
          </p:cNvSpPr>
          <p:nvPr/>
        </p:nvSpPr>
        <p:spPr>
          <a:xfrm xmlns:a="http://schemas.openxmlformats.org/drawingml/2006/main">
            <a:off x="685800" y="3333750"/>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HTML / CSS / JavaScript + Java Spring Boot + MySQL</a:t>
            </a:r>
          </a:p>
        </p:txBody>
      </p:sp>
      <p:sp>
        <p:nvSpPr>
          <p:cNvPr id="4" name="">
            <a:extLst xmlns:a="http://schemas.openxmlformats.org/drawingml/2006/main">
              <a:ext uri="{FF2B5EF4-FFF2-40B4-BE49-F238E27FC236}">
                <a16:creationId xmlns:a16="http://schemas.microsoft.com/office/drawing/2014/main" id="{7266073A-E316-4856-B2B2-CFE1CA67B0F1}"/>
              </a:ext>
            </a:extLst>
          </p:cNvPr>
          <p:cNvSpPr>
            <a:spLocks xmlns:a="http://schemas.openxmlformats.org/drawingml/2006/main" noGrp="1"/>
          </p:cNvSpPr>
          <p:nvPr/>
        </p:nvSpPr>
        <p:spPr>
          <a:xfrm xmlns:a="http://schemas.openxmlformats.org/drawingml/2006/main">
            <a:off x="68580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CDED4"/>
                </a:solidFill>
                <a:latin typeface="Arial"/>
                <a:ea typeface="Arial"/>
                <a:cs typeface="Arial"/>
              </a:defRPr>
            </a:pPr>
            <a:r>
              <a:rPr sz="1050" b="0">
                <a:solidFill>
                  <a:srgbClr val="ACDED4"/>
                </a:solidFill>
                <a:latin typeface="Arial"/>
                <a:ea typeface="Arial"/>
                <a:cs typeface="Arial"/>
              </a:rPr>
              <a:t>FARAJA  /  UNIVERSITY GROUP PROJECT</a:t>
            </a:r>
          </a:p>
        </p:txBody>
      </p:sp>
      <p:sp>
        <p:nvSpPr>
          <p:cNvPr id="5" name="">
            <a:extLst xmlns:a="http://schemas.openxmlformats.org/drawingml/2006/main">
              <a:ext uri="{FF2B5EF4-FFF2-40B4-BE49-F238E27FC236}">
                <a16:creationId xmlns:a16="http://schemas.microsoft.com/office/drawing/2014/main" id="{B56210F9-2815-4022-8877-E95FFF5E2ACF}"/>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01</a:t>
            </a:r>
          </a:p>
        </p:txBody>
      </p:sp>
    </p:spTree>
    <p:extLst>
      <p:ext uri="{BB962C8B-B14F-4D97-AF65-F5344CB8AC3E}">
        <p14:creationId xmlns:p14="http://schemas.microsoft.com/office/powerpoint/2010/main" val="2098611914"/>
      </p:ext>
    </p:extLst>
  </p:cSld>
</p:sld>
</file>

<file path=ppt/slides/slide2.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D8BBB2-B0F8-4BC8-8E39-AE3467C32D9B}"/>
              </a:ext>
            </a:extLst>
          </p:cNvPr>
          <p:cNvSpPr>
            <a:spLocks xmlns:a="http://schemas.openxmlformats.org/drawingml/2006/main" noGrp="1"/>
          </p:cNvSpPr>
          <p:nvPr/>
        </p:nvSpPr>
        <p:spPr>
          <a:xfrm xmlns:a="http://schemas.openxmlformats.org/drawingml/2006/main">
            <a:off x="685800" y="419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67B70"/>
                </a:solidFill>
                <a:latin typeface="Arial"/>
                <a:ea typeface="Arial"/>
                <a:cs typeface="Arial"/>
              </a:defRPr>
            </a:pPr>
            <a:r>
              <a:rPr sz="1350" b="1">
                <a:solidFill>
                  <a:srgbClr val="367B70"/>
                </a:solidFill>
                <a:latin typeface="Arial"/>
                <a:ea typeface="Arial"/>
                <a:cs typeface="Arial"/>
              </a:rPr>
              <a:t>PROBLEM &amp; OBJECTIVES</a:t>
            </a:r>
          </a:p>
        </p:txBody>
      </p:sp>
      <p:sp>
        <p:nvSpPr>
          <p:cNvPr id="2" name="">
            <a:extLst xmlns:a="http://schemas.openxmlformats.org/drawingml/2006/main">
              <a:ext uri="{FF2B5EF4-FFF2-40B4-BE49-F238E27FC236}">
                <a16:creationId xmlns:a16="http://schemas.microsoft.com/office/drawing/2014/main" id="{92C8F69D-CBF1-4787-B5B7-186174BFBA39}"/>
              </a:ext>
            </a:extLst>
          </p:cNvPr>
          <p:cNvSpPr>
            <a:spLocks xmlns:a="http://schemas.openxmlformats.org/drawingml/2006/main" noGrp="1"/>
          </p:cNvSpPr>
          <p:nvPr/>
        </p:nvSpPr>
        <p:spPr>
          <a:xfrm xmlns:a="http://schemas.openxmlformats.org/drawingml/2006/main">
            <a:off x="685800" y="1066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C4A"/>
                </a:solidFill>
                <a:latin typeface="Arial"/>
                <a:ea typeface="Arial"/>
                <a:cs typeface="Arial"/>
              </a:defRPr>
            </a:pPr>
            <a:r>
              <a:rPr sz="3225" b="1">
                <a:solidFill>
                  <a:srgbClr val="163C4A"/>
                </a:solidFill>
                <a:latin typeface="Arial"/>
                <a:ea typeface="Arial"/>
                <a:cs typeface="Arial"/>
              </a:rPr>
              <a:t>One patient journey, shared records</a:t>
            </a:r>
          </a:p>
        </p:txBody>
      </p:sp>
      <p:sp>
        <p:nvSpPr>
          <p:cNvPr id="3" name="">
            <a:extLst xmlns:a="http://schemas.openxmlformats.org/drawingml/2006/main">
              <a:ext uri="{FF2B5EF4-FFF2-40B4-BE49-F238E27FC236}">
                <a16:creationId xmlns:a16="http://schemas.microsoft.com/office/drawing/2014/main" id="{938FF09F-0864-4904-BD63-5C03BFA605AE}"/>
              </a:ext>
            </a:extLst>
          </p:cNvPr>
          <p:cNvSpPr>
            <a:spLocks xmlns:a="http://schemas.openxmlformats.org/drawingml/2006/main" noGrp="1"/>
          </p:cNvSpPr>
          <p:nvPr/>
        </p:nvSpPr>
        <p:spPr>
          <a:xfrm xmlns:a="http://schemas.openxmlformats.org/drawingml/2006/main">
            <a:off x="685800" y="23336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Register patients once and retrieve their history.</a:t>
            </a:r>
          </a:p>
        </p:txBody>
      </p:sp>
      <p:sp>
        <p:nvSpPr>
          <p:cNvPr id="4" name="">
            <a:extLst xmlns:a="http://schemas.openxmlformats.org/drawingml/2006/main">
              <a:ext uri="{FF2B5EF4-FFF2-40B4-BE49-F238E27FC236}">
                <a16:creationId xmlns:a16="http://schemas.microsoft.com/office/drawing/2014/main" id="{A31A4C69-6DB6-46A6-8D77-03DDE6681BE9}"/>
              </a:ext>
            </a:extLst>
          </p:cNvPr>
          <p:cNvSpPr>
            <a:spLocks xmlns:a="http://schemas.openxmlformats.org/drawingml/2006/main" noGrp="1"/>
          </p:cNvSpPr>
          <p:nvPr/>
        </p:nvSpPr>
        <p:spPr>
          <a:xfrm xmlns:a="http://schemas.openxmlformats.org/drawingml/2006/main">
            <a:off x="685800" y="28670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Coordinate appointments, queue and clinical care.</a:t>
            </a:r>
          </a:p>
        </p:txBody>
      </p:sp>
      <p:sp>
        <p:nvSpPr>
          <p:cNvPr id="5" name="">
            <a:extLst xmlns:a="http://schemas.openxmlformats.org/drawingml/2006/main">
              <a:ext uri="{FF2B5EF4-FFF2-40B4-BE49-F238E27FC236}">
                <a16:creationId xmlns:a16="http://schemas.microsoft.com/office/drawing/2014/main" id="{BBF1C31B-56C1-4468-8182-A1CF198E9373}"/>
              </a:ext>
            </a:extLst>
          </p:cNvPr>
          <p:cNvSpPr>
            <a:spLocks xmlns:a="http://schemas.openxmlformats.org/drawingml/2006/main" noGrp="1"/>
          </p:cNvSpPr>
          <p:nvPr/>
        </p:nvSpPr>
        <p:spPr>
          <a:xfrm xmlns:a="http://schemas.openxmlformats.org/drawingml/2006/main">
            <a:off x="685800" y="34004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Track laboratory work, prescriptions and stock.</a:t>
            </a:r>
          </a:p>
        </p:txBody>
      </p:sp>
      <p:sp>
        <p:nvSpPr>
          <p:cNvPr id="6" name="">
            <a:extLst xmlns:a="http://schemas.openxmlformats.org/drawingml/2006/main">
              <a:ext uri="{FF2B5EF4-FFF2-40B4-BE49-F238E27FC236}">
                <a16:creationId xmlns:a16="http://schemas.microsoft.com/office/drawing/2014/main" id="{DDBA4FBD-CF4C-478B-9898-33A8E7CD8EAF}"/>
              </a:ext>
            </a:extLst>
          </p:cNvPr>
          <p:cNvSpPr>
            <a:spLocks xmlns:a="http://schemas.openxmlformats.org/drawingml/2006/main" noGrp="1"/>
          </p:cNvSpPr>
          <p:nvPr/>
        </p:nvSpPr>
        <p:spPr>
          <a:xfrm xmlns:a="http://schemas.openxmlformats.org/drawingml/2006/main">
            <a:off x="685800" y="39338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Record invoices, payments and operational totals.</a:t>
            </a:r>
          </a:p>
        </p:txBody>
      </p:sp>
      <p:sp>
        <p:nvSpPr>
          <p:cNvPr id="7" name="">
            <a:extLst xmlns:a="http://schemas.openxmlformats.org/drawingml/2006/main">
              <a:ext uri="{FF2B5EF4-FFF2-40B4-BE49-F238E27FC236}">
                <a16:creationId xmlns:a16="http://schemas.microsoft.com/office/drawing/2014/main" id="{98389628-31A2-4A0E-98CE-57FF44DC8CA9}"/>
              </a:ext>
            </a:extLst>
          </p:cNvPr>
          <p:cNvSpPr>
            <a:spLocks xmlns:a="http://schemas.openxmlformats.org/drawingml/2006/main" noGrp="1"/>
          </p:cNvSpPr>
          <p:nvPr/>
        </p:nvSpPr>
        <p:spPr>
          <a:xfrm xmlns:a="http://schemas.openxmlformats.org/drawingml/2006/main">
            <a:off x="68580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16E"/>
                </a:solidFill>
                <a:latin typeface="Arial"/>
                <a:ea typeface="Arial"/>
                <a:cs typeface="Arial"/>
              </a:defRPr>
            </a:pPr>
            <a:r>
              <a:rPr sz="1050" b="0">
                <a:solidFill>
                  <a:srgbClr val="56716E"/>
                </a:solidFill>
                <a:latin typeface="Arial"/>
                <a:ea typeface="Arial"/>
                <a:cs typeface="Arial"/>
              </a:rPr>
              <a:t>FARAJA  /  UNIVERSITY GROUP PROJECT</a:t>
            </a:r>
          </a:p>
        </p:txBody>
      </p:sp>
      <p:sp>
        <p:nvSpPr>
          <p:cNvPr id="8" name="">
            <a:extLst xmlns:a="http://schemas.openxmlformats.org/drawingml/2006/main">
              <a:ext uri="{FF2B5EF4-FFF2-40B4-BE49-F238E27FC236}">
                <a16:creationId xmlns:a16="http://schemas.microsoft.com/office/drawing/2014/main" id="{47613466-8BDF-4E5E-9DF7-44441CC741EC}"/>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63C4A"/>
                </a:solidFill>
                <a:latin typeface="Arial"/>
                <a:ea typeface="Arial"/>
                <a:cs typeface="Arial"/>
              </a:defRPr>
            </a:pPr>
            <a:r>
              <a:rPr sz="1050" b="0">
                <a:solidFill>
                  <a:srgbClr val="163C4A"/>
                </a:solidFill>
                <a:latin typeface="Arial"/>
                <a:ea typeface="Arial"/>
                <a:cs typeface="Arial"/>
              </a:rPr>
              <a:t>02</a:t>
            </a:r>
          </a:p>
        </p:txBody>
      </p:sp>
    </p:spTree>
    <p:extLst>
      <p:ext uri="{BB962C8B-B14F-4D97-AF65-F5344CB8AC3E}">
        <p14:creationId xmlns:p14="http://schemas.microsoft.com/office/powerpoint/2010/main" val="183293533"/>
      </p:ext>
    </p:extLst>
  </p:cSld>
</p:sld>
</file>

<file path=ppt/slides/slide3.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F4A45C-24F9-41EF-AFAB-767ACFB7A191}"/>
              </a:ext>
            </a:extLst>
          </p:cNvPr>
          <p:cNvSpPr>
            <a:spLocks xmlns:a="http://schemas.openxmlformats.org/drawingml/2006/main" noGrp="1"/>
          </p:cNvSpPr>
          <p:nvPr/>
        </p:nvSpPr>
        <p:spPr>
          <a:xfrm xmlns:a="http://schemas.openxmlformats.org/drawingml/2006/main">
            <a:off x="685800" y="419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67B70"/>
                </a:solidFill>
                <a:latin typeface="Arial"/>
                <a:ea typeface="Arial"/>
                <a:cs typeface="Arial"/>
              </a:defRPr>
            </a:pPr>
            <a:r>
              <a:rPr sz="1350" b="1">
                <a:solidFill>
                  <a:srgbClr val="367B70"/>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242DA3FF-1E78-4BE9-8C32-F67F043AE6DC}"/>
              </a:ext>
            </a:extLst>
          </p:cNvPr>
          <p:cNvSpPr>
            <a:spLocks xmlns:a="http://schemas.openxmlformats.org/drawingml/2006/main" noGrp="1"/>
          </p:cNvSpPr>
          <p:nvPr/>
        </p:nvSpPr>
        <p:spPr>
          <a:xfrm xmlns:a="http://schemas.openxmlformats.org/drawingml/2006/main">
            <a:off x="685800" y="1066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C4A"/>
                </a:solidFill>
                <a:latin typeface="Arial"/>
                <a:ea typeface="Arial"/>
                <a:cs typeface="Arial"/>
              </a:defRPr>
            </a:pPr>
            <a:r>
              <a:rPr sz="3225" b="1">
                <a:solidFill>
                  <a:srgbClr val="163C4A"/>
                </a:solidFill>
                <a:latin typeface="Arial"/>
                <a:ea typeface="Arial"/>
                <a:cs typeface="Arial"/>
              </a:rPr>
              <a:t>A stack the group can explain</a:t>
            </a:r>
          </a:p>
        </p:txBody>
      </p:sp>
      <p:sp>
        <p:nvSpPr>
          <p:cNvPr id="3" name="">
            <a:extLst xmlns:a="http://schemas.openxmlformats.org/drawingml/2006/main">
              <a:ext uri="{FF2B5EF4-FFF2-40B4-BE49-F238E27FC236}">
                <a16:creationId xmlns:a16="http://schemas.microsoft.com/office/drawing/2014/main" id="{8CF3F7E4-6D62-491D-A5E8-4055FE6C4BCC}"/>
              </a:ext>
            </a:extLst>
          </p:cNvPr>
          <p:cNvSpPr>
            <a:spLocks xmlns:a="http://schemas.openxmlformats.org/drawingml/2006/main" noGrp="1"/>
          </p:cNvSpPr>
          <p:nvPr/>
        </p:nvSpPr>
        <p:spPr>
          <a:xfrm xmlns:a="http://schemas.openxmlformats.org/drawingml/2006/main">
            <a:off x="685800" y="23336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HTML pages + reusable CSS + vanilla JavaScript</a:t>
            </a:r>
          </a:p>
        </p:txBody>
      </p:sp>
      <p:sp>
        <p:nvSpPr>
          <p:cNvPr id="4" name="">
            <a:extLst xmlns:a="http://schemas.openxmlformats.org/drawingml/2006/main">
              <a:ext uri="{FF2B5EF4-FFF2-40B4-BE49-F238E27FC236}">
                <a16:creationId xmlns:a16="http://schemas.microsoft.com/office/drawing/2014/main" id="{178E7F8A-DFA4-42ED-8FCF-C21AB63087D3}"/>
              </a:ext>
            </a:extLst>
          </p:cNvPr>
          <p:cNvSpPr>
            <a:spLocks xmlns:a="http://schemas.openxmlformats.org/drawingml/2006/main" noGrp="1"/>
          </p:cNvSpPr>
          <p:nvPr/>
        </p:nvSpPr>
        <p:spPr>
          <a:xfrm xmlns:a="http://schemas.openxmlformats.org/drawingml/2006/main">
            <a:off x="685800" y="28670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Fetch API → Spring Boot REST controllers</a:t>
            </a:r>
          </a:p>
        </p:txBody>
      </p:sp>
      <p:sp>
        <p:nvSpPr>
          <p:cNvPr id="5" name="">
            <a:extLst xmlns:a="http://schemas.openxmlformats.org/drawingml/2006/main">
              <a:ext uri="{FF2B5EF4-FFF2-40B4-BE49-F238E27FC236}">
                <a16:creationId xmlns:a16="http://schemas.microsoft.com/office/drawing/2014/main" id="{3C4CBE2C-3FA1-4A9F-96C4-9F1BEF60F162}"/>
              </a:ext>
            </a:extLst>
          </p:cNvPr>
          <p:cNvSpPr>
            <a:spLocks xmlns:a="http://schemas.openxmlformats.org/drawingml/2006/main" noGrp="1"/>
          </p:cNvSpPr>
          <p:nvPr/>
        </p:nvSpPr>
        <p:spPr>
          <a:xfrm xmlns:a="http://schemas.openxmlformats.org/drawingml/2006/main">
            <a:off x="685800" y="34004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Services → JPA repositories → MySQL</a:t>
            </a:r>
          </a:p>
        </p:txBody>
      </p:sp>
      <p:sp>
        <p:nvSpPr>
          <p:cNvPr id="6" name="">
            <a:extLst xmlns:a="http://schemas.openxmlformats.org/drawingml/2006/main">
              <a:ext uri="{FF2B5EF4-FFF2-40B4-BE49-F238E27FC236}">
                <a16:creationId xmlns:a16="http://schemas.microsoft.com/office/drawing/2014/main" id="{5DCA1B07-8B78-4644-82D6-F021BD9B935D}"/>
              </a:ext>
            </a:extLst>
          </p:cNvPr>
          <p:cNvSpPr>
            <a:spLocks xmlns:a="http://schemas.openxmlformats.org/drawingml/2006/main" noGrp="1"/>
          </p:cNvSpPr>
          <p:nvPr/>
        </p:nvSpPr>
        <p:spPr>
          <a:xfrm xmlns:a="http://schemas.openxmlformats.org/drawingml/2006/main">
            <a:off x="685800" y="39338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One command serves both frontend and backend.</a:t>
            </a:r>
          </a:p>
        </p:txBody>
      </p:sp>
      <p:sp>
        <p:nvSpPr>
          <p:cNvPr id="7" name="">
            <a:extLst xmlns:a="http://schemas.openxmlformats.org/drawingml/2006/main">
              <a:ext uri="{FF2B5EF4-FFF2-40B4-BE49-F238E27FC236}">
                <a16:creationId xmlns:a16="http://schemas.microsoft.com/office/drawing/2014/main" id="{612769C8-9459-4206-8C2B-A41182447317}"/>
              </a:ext>
            </a:extLst>
          </p:cNvPr>
          <p:cNvSpPr>
            <a:spLocks xmlns:a="http://schemas.openxmlformats.org/drawingml/2006/main" noGrp="1"/>
          </p:cNvSpPr>
          <p:nvPr/>
        </p:nvSpPr>
        <p:spPr>
          <a:xfrm xmlns:a="http://schemas.openxmlformats.org/drawingml/2006/main">
            <a:off x="68580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16E"/>
                </a:solidFill>
                <a:latin typeface="Arial"/>
                <a:ea typeface="Arial"/>
                <a:cs typeface="Arial"/>
              </a:defRPr>
            </a:pPr>
            <a:r>
              <a:rPr sz="1050" b="0">
                <a:solidFill>
                  <a:srgbClr val="56716E"/>
                </a:solidFill>
                <a:latin typeface="Arial"/>
                <a:ea typeface="Arial"/>
                <a:cs typeface="Arial"/>
              </a:rPr>
              <a:t>FARAJA  /  UNIVERSITY GROUP PROJECT</a:t>
            </a:r>
          </a:p>
        </p:txBody>
      </p:sp>
      <p:sp>
        <p:nvSpPr>
          <p:cNvPr id="8" name="">
            <a:extLst xmlns:a="http://schemas.openxmlformats.org/drawingml/2006/main">
              <a:ext uri="{FF2B5EF4-FFF2-40B4-BE49-F238E27FC236}">
                <a16:creationId xmlns:a16="http://schemas.microsoft.com/office/drawing/2014/main" id="{936E7209-26E4-46A4-88AF-BAB0D42F27BA}"/>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63C4A"/>
                </a:solidFill>
                <a:latin typeface="Arial"/>
                <a:ea typeface="Arial"/>
                <a:cs typeface="Arial"/>
              </a:defRPr>
            </a:pPr>
            <a:r>
              <a:rPr sz="1050" b="0">
                <a:solidFill>
                  <a:srgbClr val="163C4A"/>
                </a:solidFill>
                <a:latin typeface="Arial"/>
                <a:ea typeface="Arial"/>
                <a:cs typeface="Arial"/>
              </a:rPr>
              <a:t>03</a:t>
            </a:r>
          </a:p>
        </p:txBody>
      </p:sp>
    </p:spTree>
    <p:extLst>
      <p:ext uri="{BB962C8B-B14F-4D97-AF65-F5344CB8AC3E}">
        <p14:creationId xmlns:p14="http://schemas.microsoft.com/office/powerpoint/2010/main" val="274054351"/>
      </p:ext>
    </p:extLst>
  </p:cSld>
</p:sld>
</file>

<file path=ppt/slides/slide4.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1420D9-D031-4A72-A475-BCA530118B1B}"/>
              </a:ext>
            </a:extLst>
          </p:cNvPr>
          <p:cNvSpPr>
            <a:spLocks xmlns:a="http://schemas.openxmlformats.org/drawingml/2006/main" noGrp="1"/>
          </p:cNvSpPr>
          <p:nvPr/>
        </p:nvSpPr>
        <p:spPr>
          <a:xfrm xmlns:a="http://schemas.openxmlformats.org/drawingml/2006/main">
            <a:off x="685800" y="419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67B70"/>
                </a:solidFill>
                <a:latin typeface="Arial"/>
                <a:ea typeface="Arial"/>
                <a:cs typeface="Arial"/>
              </a:defRPr>
            </a:pPr>
            <a:r>
              <a:rPr sz="1350" b="1">
                <a:solidFill>
                  <a:srgbClr val="367B70"/>
                </a:solidFill>
                <a:latin typeface="Arial"/>
                <a:ea typeface="Arial"/>
                <a:cs typeface="Arial"/>
              </a:rPr>
              <a:t>ACCESS CONTROL</a:t>
            </a:r>
          </a:p>
        </p:txBody>
      </p:sp>
      <p:sp>
        <p:nvSpPr>
          <p:cNvPr id="2" name="">
            <a:extLst xmlns:a="http://schemas.openxmlformats.org/drawingml/2006/main">
              <a:ext uri="{FF2B5EF4-FFF2-40B4-BE49-F238E27FC236}">
                <a16:creationId xmlns:a16="http://schemas.microsoft.com/office/drawing/2014/main" id="{4DA93E58-8560-4DF5-A3BF-3E7C89C238D5}"/>
              </a:ext>
            </a:extLst>
          </p:cNvPr>
          <p:cNvSpPr>
            <a:spLocks xmlns:a="http://schemas.openxmlformats.org/drawingml/2006/main" noGrp="1"/>
          </p:cNvSpPr>
          <p:nvPr/>
        </p:nvSpPr>
        <p:spPr>
          <a:xfrm xmlns:a="http://schemas.openxmlformats.org/drawingml/2006/main">
            <a:off x="685800" y="1066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C4A"/>
                </a:solidFill>
                <a:latin typeface="Arial"/>
                <a:ea typeface="Arial"/>
                <a:cs typeface="Arial"/>
              </a:defRPr>
            </a:pPr>
            <a:r>
              <a:rPr sz="3225" b="1">
                <a:solidFill>
                  <a:srgbClr val="163C4A"/>
                </a:solidFill>
                <a:latin typeface="Arial"/>
                <a:ea typeface="Arial"/>
                <a:cs typeface="Arial"/>
              </a:rPr>
              <a:t>Seven staff roles</a:t>
            </a:r>
          </a:p>
        </p:txBody>
      </p:sp>
      <p:sp>
        <p:nvSpPr>
          <p:cNvPr id="3" name="">
            <a:extLst xmlns:a="http://schemas.openxmlformats.org/drawingml/2006/main">
              <a:ext uri="{FF2B5EF4-FFF2-40B4-BE49-F238E27FC236}">
                <a16:creationId xmlns:a16="http://schemas.microsoft.com/office/drawing/2014/main" id="{60FF107F-48C2-457D-B62F-44881920F212}"/>
              </a:ext>
            </a:extLst>
          </p:cNvPr>
          <p:cNvSpPr>
            <a:spLocks xmlns:a="http://schemas.openxmlformats.org/drawingml/2006/main" noGrp="1"/>
          </p:cNvSpPr>
          <p:nvPr/>
        </p:nvSpPr>
        <p:spPr>
          <a:xfrm xmlns:a="http://schemas.openxmlformats.org/drawingml/2006/main">
            <a:off x="685800" y="23336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Administrator: staff accounts and audit review</a:t>
            </a:r>
          </a:p>
        </p:txBody>
      </p:sp>
      <p:sp>
        <p:nvSpPr>
          <p:cNvPr id="4" name="">
            <a:extLst xmlns:a="http://schemas.openxmlformats.org/drawingml/2006/main">
              <a:ext uri="{FF2B5EF4-FFF2-40B4-BE49-F238E27FC236}">
                <a16:creationId xmlns:a16="http://schemas.microsoft.com/office/drawing/2014/main" id="{EAC760C9-FA54-4FCB-96C1-574A71B1273E}"/>
              </a:ext>
            </a:extLst>
          </p:cNvPr>
          <p:cNvSpPr>
            <a:spLocks xmlns:a="http://schemas.openxmlformats.org/drawingml/2006/main" noGrp="1"/>
          </p:cNvSpPr>
          <p:nvPr/>
        </p:nvSpPr>
        <p:spPr>
          <a:xfrm xmlns:a="http://schemas.openxmlformats.org/drawingml/2006/main">
            <a:off x="685800" y="28670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Receptionist: registration, appointments and queue</a:t>
            </a:r>
          </a:p>
        </p:txBody>
      </p:sp>
      <p:sp>
        <p:nvSpPr>
          <p:cNvPr id="5" name="">
            <a:extLst xmlns:a="http://schemas.openxmlformats.org/drawingml/2006/main">
              <a:ext uri="{FF2B5EF4-FFF2-40B4-BE49-F238E27FC236}">
                <a16:creationId xmlns:a16="http://schemas.microsoft.com/office/drawing/2014/main" id="{8CD66179-67E2-4C4B-9BEF-C0CDEDD95CF4}"/>
              </a:ext>
            </a:extLst>
          </p:cNvPr>
          <p:cNvSpPr>
            <a:spLocks xmlns:a="http://schemas.openxmlformats.org/drawingml/2006/main" noGrp="1"/>
          </p:cNvSpPr>
          <p:nvPr/>
        </p:nvSpPr>
        <p:spPr>
          <a:xfrm xmlns:a="http://schemas.openxmlformats.org/drawingml/2006/main">
            <a:off x="685800" y="34004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Doctor / clinical officer + nurse: notes and vital signs</a:t>
            </a:r>
          </a:p>
        </p:txBody>
      </p:sp>
      <p:sp>
        <p:nvSpPr>
          <p:cNvPr id="6" name="">
            <a:extLst xmlns:a="http://schemas.openxmlformats.org/drawingml/2006/main">
              <a:ext uri="{FF2B5EF4-FFF2-40B4-BE49-F238E27FC236}">
                <a16:creationId xmlns:a16="http://schemas.microsoft.com/office/drawing/2014/main" id="{D1464F1F-4375-4145-92E7-7E4D7554DFFD}"/>
              </a:ext>
            </a:extLst>
          </p:cNvPr>
          <p:cNvSpPr>
            <a:spLocks xmlns:a="http://schemas.openxmlformats.org/drawingml/2006/main" noGrp="1"/>
          </p:cNvSpPr>
          <p:nvPr/>
        </p:nvSpPr>
        <p:spPr>
          <a:xfrm xmlns:a="http://schemas.openxmlformats.org/drawingml/2006/main">
            <a:off x="685800" y="39338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Laboratory + pharmacist: results and medicines</a:t>
            </a:r>
          </a:p>
        </p:txBody>
      </p:sp>
      <p:sp>
        <p:nvSpPr>
          <p:cNvPr id="7" name="">
            <a:extLst xmlns:a="http://schemas.openxmlformats.org/drawingml/2006/main">
              <a:ext uri="{FF2B5EF4-FFF2-40B4-BE49-F238E27FC236}">
                <a16:creationId xmlns:a16="http://schemas.microsoft.com/office/drawing/2014/main" id="{74D41D22-6CCA-4775-B9B4-644B0C385FC9}"/>
              </a:ext>
            </a:extLst>
          </p:cNvPr>
          <p:cNvSpPr>
            <a:spLocks xmlns:a="http://schemas.openxmlformats.org/drawingml/2006/main" noGrp="1"/>
          </p:cNvSpPr>
          <p:nvPr/>
        </p:nvSpPr>
        <p:spPr>
          <a:xfrm xmlns:a="http://schemas.openxmlformats.org/drawingml/2006/main">
            <a:off x="685800" y="44672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Cashier: invoices and payments</a:t>
            </a:r>
          </a:p>
        </p:txBody>
      </p:sp>
      <p:sp>
        <p:nvSpPr>
          <p:cNvPr id="8" name="">
            <a:extLst xmlns:a="http://schemas.openxmlformats.org/drawingml/2006/main">
              <a:ext uri="{FF2B5EF4-FFF2-40B4-BE49-F238E27FC236}">
                <a16:creationId xmlns:a16="http://schemas.microsoft.com/office/drawing/2014/main" id="{E262DDA0-F30E-408A-B295-776BB7BFF5FD}"/>
              </a:ext>
            </a:extLst>
          </p:cNvPr>
          <p:cNvSpPr>
            <a:spLocks xmlns:a="http://schemas.openxmlformats.org/drawingml/2006/main" noGrp="1"/>
          </p:cNvSpPr>
          <p:nvPr/>
        </p:nvSpPr>
        <p:spPr>
          <a:xfrm xmlns:a="http://schemas.openxmlformats.org/drawingml/2006/main">
            <a:off x="68580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16E"/>
                </a:solidFill>
                <a:latin typeface="Arial"/>
                <a:ea typeface="Arial"/>
                <a:cs typeface="Arial"/>
              </a:defRPr>
            </a:pPr>
            <a:r>
              <a:rPr sz="1050" b="0">
                <a:solidFill>
                  <a:srgbClr val="56716E"/>
                </a:solidFill>
                <a:latin typeface="Arial"/>
                <a:ea typeface="Arial"/>
                <a:cs typeface="Arial"/>
              </a:rPr>
              <a:t>FARAJA  /  UNIVERSITY GROUP PROJECT</a:t>
            </a:r>
          </a:p>
        </p:txBody>
      </p:sp>
      <p:sp>
        <p:nvSpPr>
          <p:cNvPr id="9" name="">
            <a:extLst xmlns:a="http://schemas.openxmlformats.org/drawingml/2006/main">
              <a:ext uri="{FF2B5EF4-FFF2-40B4-BE49-F238E27FC236}">
                <a16:creationId xmlns:a16="http://schemas.microsoft.com/office/drawing/2014/main" id="{109235EF-39FB-4355-BD11-5D25BEFFFC8F}"/>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63C4A"/>
                </a:solidFill>
                <a:latin typeface="Arial"/>
                <a:ea typeface="Arial"/>
                <a:cs typeface="Arial"/>
              </a:defRPr>
            </a:pPr>
            <a:r>
              <a:rPr sz="1050" b="0">
                <a:solidFill>
                  <a:srgbClr val="163C4A"/>
                </a:solidFill>
                <a:latin typeface="Arial"/>
                <a:ea typeface="Arial"/>
                <a:cs typeface="Arial"/>
              </a:rPr>
              <a:t>04</a:t>
            </a:r>
          </a:p>
        </p:txBody>
      </p:sp>
    </p:spTree>
    <p:extLst>
      <p:ext uri="{BB962C8B-B14F-4D97-AF65-F5344CB8AC3E}">
        <p14:creationId xmlns:p14="http://schemas.microsoft.com/office/powerpoint/2010/main" val="283892756"/>
      </p:ext>
    </p:extLst>
  </p:cSld>
</p:sld>
</file>

<file path=ppt/slides/slide5.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47BC7E6-6482-4BCC-A630-A8588CD02626}"/>
              </a:ext>
            </a:extLst>
          </p:cNvPr>
          <p:cNvSpPr>
            <a:spLocks xmlns:a="http://schemas.openxmlformats.org/drawingml/2006/main" noGrp="1"/>
          </p:cNvSpPr>
          <p:nvPr/>
        </p:nvSpPr>
        <p:spPr>
          <a:xfrm xmlns:a="http://schemas.openxmlformats.org/drawingml/2006/main">
            <a:off x="685800" y="419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67B70"/>
                </a:solidFill>
                <a:latin typeface="Arial"/>
                <a:ea typeface="Arial"/>
                <a:cs typeface="Arial"/>
              </a:defRPr>
            </a:pPr>
            <a:r>
              <a:rPr sz="1350" b="1">
                <a:solidFill>
                  <a:srgbClr val="367B70"/>
                </a:solidFill>
                <a:latin typeface="Arial"/>
                <a:ea typeface="Arial"/>
                <a:cs typeface="Arial"/>
              </a:rPr>
              <a:t>CARE WORKFLOW</a:t>
            </a:r>
          </a:p>
        </p:txBody>
      </p:sp>
      <p:sp>
        <p:nvSpPr>
          <p:cNvPr id="2" name="">
            <a:extLst xmlns:a="http://schemas.openxmlformats.org/drawingml/2006/main">
              <a:ext uri="{FF2B5EF4-FFF2-40B4-BE49-F238E27FC236}">
                <a16:creationId xmlns:a16="http://schemas.microsoft.com/office/drawing/2014/main" id="{531BA899-09E1-4FE5-926D-5EDD7B2A304A}"/>
              </a:ext>
            </a:extLst>
          </p:cNvPr>
          <p:cNvSpPr>
            <a:spLocks xmlns:a="http://schemas.openxmlformats.org/drawingml/2006/main" noGrp="1"/>
          </p:cNvSpPr>
          <p:nvPr/>
        </p:nvSpPr>
        <p:spPr>
          <a:xfrm xmlns:a="http://schemas.openxmlformats.org/drawingml/2006/main">
            <a:off x="685800" y="1066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C4A"/>
                </a:solidFill>
                <a:latin typeface="Arial"/>
                <a:ea typeface="Arial"/>
                <a:cs typeface="Arial"/>
              </a:defRPr>
            </a:pPr>
            <a:r>
              <a:rPr sz="3225" b="1">
                <a:solidFill>
                  <a:srgbClr val="163C4A"/>
                </a:solidFill>
                <a:latin typeface="Arial"/>
                <a:ea typeface="Arial"/>
                <a:cs typeface="Arial"/>
              </a:rPr>
              <a:t>From registration to payment</a:t>
            </a:r>
          </a:p>
        </p:txBody>
      </p:sp>
      <p:sp>
        <p:nvSpPr>
          <p:cNvPr id="3" name="">
            <a:extLst xmlns:a="http://schemas.openxmlformats.org/drawingml/2006/main">
              <a:ext uri="{FF2B5EF4-FFF2-40B4-BE49-F238E27FC236}">
                <a16:creationId xmlns:a16="http://schemas.microsoft.com/office/drawing/2014/main" id="{5706129B-6A68-426A-95AC-46F05E1F036D}"/>
              </a:ext>
            </a:extLst>
          </p:cNvPr>
          <p:cNvSpPr>
            <a:spLocks xmlns:a="http://schemas.openxmlformats.org/drawingml/2006/main" noGrp="1"/>
          </p:cNvSpPr>
          <p:nvPr/>
        </p:nvSpPr>
        <p:spPr>
          <a:xfrm xmlns:a="http://schemas.openxmlformats.org/drawingml/2006/main">
            <a:off x="685800" y="23336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01  Register patient → book appointment / start visit</a:t>
            </a:r>
          </a:p>
        </p:txBody>
      </p:sp>
      <p:sp>
        <p:nvSpPr>
          <p:cNvPr id="4" name="">
            <a:extLst xmlns:a="http://schemas.openxmlformats.org/drawingml/2006/main">
              <a:ext uri="{FF2B5EF4-FFF2-40B4-BE49-F238E27FC236}">
                <a16:creationId xmlns:a16="http://schemas.microsoft.com/office/drawing/2014/main" id="{0B29E8EB-ABEF-4349-BA45-E16EB9FCDC86}"/>
              </a:ext>
            </a:extLst>
          </p:cNvPr>
          <p:cNvSpPr>
            <a:spLocks xmlns:a="http://schemas.openxmlformats.org/drawingml/2006/main" noGrp="1"/>
          </p:cNvSpPr>
          <p:nvPr/>
        </p:nvSpPr>
        <p:spPr>
          <a:xfrm xmlns:a="http://schemas.openxmlformats.org/drawingml/2006/main">
            <a:off x="685800" y="28670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02  Nurse records vitals; doctor records consultation</a:t>
            </a:r>
          </a:p>
        </p:txBody>
      </p:sp>
      <p:sp>
        <p:nvSpPr>
          <p:cNvPr id="5" name="">
            <a:extLst xmlns:a="http://schemas.openxmlformats.org/drawingml/2006/main">
              <a:ext uri="{FF2B5EF4-FFF2-40B4-BE49-F238E27FC236}">
                <a16:creationId xmlns:a16="http://schemas.microsoft.com/office/drawing/2014/main" id="{5F4BEC65-544F-463E-996A-BC179071DE02}"/>
              </a:ext>
            </a:extLst>
          </p:cNvPr>
          <p:cNvSpPr>
            <a:spLocks xmlns:a="http://schemas.openxmlformats.org/drawingml/2006/main" noGrp="1"/>
          </p:cNvSpPr>
          <p:nvPr/>
        </p:nvSpPr>
        <p:spPr>
          <a:xfrm xmlns:a="http://schemas.openxmlformats.org/drawingml/2006/main">
            <a:off x="685800" y="34004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03  Order tests → record laboratory results</a:t>
            </a:r>
          </a:p>
        </p:txBody>
      </p:sp>
      <p:sp>
        <p:nvSpPr>
          <p:cNvPr id="6" name="">
            <a:extLst xmlns:a="http://schemas.openxmlformats.org/drawingml/2006/main">
              <a:ext uri="{FF2B5EF4-FFF2-40B4-BE49-F238E27FC236}">
                <a16:creationId xmlns:a16="http://schemas.microsoft.com/office/drawing/2014/main" id="{B62BB4F8-2A55-4BE3-B068-76D12B0ABDAE}"/>
              </a:ext>
            </a:extLst>
          </p:cNvPr>
          <p:cNvSpPr>
            <a:spLocks xmlns:a="http://schemas.openxmlformats.org/drawingml/2006/main" noGrp="1"/>
          </p:cNvSpPr>
          <p:nvPr/>
        </p:nvSpPr>
        <p:spPr>
          <a:xfrm xmlns:a="http://schemas.openxmlformats.org/drawingml/2006/main">
            <a:off x="685800" y="39338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04  Prescribe medicine → dispense and reduce stock</a:t>
            </a:r>
          </a:p>
        </p:txBody>
      </p:sp>
      <p:sp>
        <p:nvSpPr>
          <p:cNvPr id="7" name="">
            <a:extLst xmlns:a="http://schemas.openxmlformats.org/drawingml/2006/main">
              <a:ext uri="{FF2B5EF4-FFF2-40B4-BE49-F238E27FC236}">
                <a16:creationId xmlns:a16="http://schemas.microsoft.com/office/drawing/2014/main" id="{E31F7195-BE84-4CC5-B723-5B109CFAA6CD}"/>
              </a:ext>
            </a:extLst>
          </p:cNvPr>
          <p:cNvSpPr>
            <a:spLocks xmlns:a="http://schemas.openxmlformats.org/drawingml/2006/main" noGrp="1"/>
          </p:cNvSpPr>
          <p:nvPr/>
        </p:nvSpPr>
        <p:spPr>
          <a:xfrm xmlns:a="http://schemas.openxmlformats.org/drawingml/2006/main">
            <a:off x="685800" y="44672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05  Create invoice → record payments → review history</a:t>
            </a:r>
          </a:p>
        </p:txBody>
      </p:sp>
      <p:sp>
        <p:nvSpPr>
          <p:cNvPr id="8" name="">
            <a:extLst xmlns:a="http://schemas.openxmlformats.org/drawingml/2006/main">
              <a:ext uri="{FF2B5EF4-FFF2-40B4-BE49-F238E27FC236}">
                <a16:creationId xmlns:a16="http://schemas.microsoft.com/office/drawing/2014/main" id="{06EA5FBF-3A1E-488C-A616-EA34B00754CD}"/>
              </a:ext>
            </a:extLst>
          </p:cNvPr>
          <p:cNvSpPr>
            <a:spLocks xmlns:a="http://schemas.openxmlformats.org/drawingml/2006/main" noGrp="1"/>
          </p:cNvSpPr>
          <p:nvPr/>
        </p:nvSpPr>
        <p:spPr>
          <a:xfrm xmlns:a="http://schemas.openxmlformats.org/drawingml/2006/main">
            <a:off x="68580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16E"/>
                </a:solidFill>
                <a:latin typeface="Arial"/>
                <a:ea typeface="Arial"/>
                <a:cs typeface="Arial"/>
              </a:defRPr>
            </a:pPr>
            <a:r>
              <a:rPr sz="1050" b="0">
                <a:solidFill>
                  <a:srgbClr val="56716E"/>
                </a:solidFill>
                <a:latin typeface="Arial"/>
                <a:ea typeface="Arial"/>
                <a:cs typeface="Arial"/>
              </a:rPr>
              <a:t>FARAJA  /  UNIVERSITY GROUP PROJECT</a:t>
            </a:r>
          </a:p>
        </p:txBody>
      </p:sp>
      <p:sp>
        <p:nvSpPr>
          <p:cNvPr id="9" name="">
            <a:extLst xmlns:a="http://schemas.openxmlformats.org/drawingml/2006/main">
              <a:ext uri="{FF2B5EF4-FFF2-40B4-BE49-F238E27FC236}">
                <a16:creationId xmlns:a16="http://schemas.microsoft.com/office/drawing/2014/main" id="{ECDBCC63-5EB1-4C9E-ACEB-14399F61D5AB}"/>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63C4A"/>
                </a:solidFill>
                <a:latin typeface="Arial"/>
                <a:ea typeface="Arial"/>
                <a:cs typeface="Arial"/>
              </a:defRPr>
            </a:pPr>
            <a:r>
              <a:rPr sz="1050" b="0">
                <a:solidFill>
                  <a:srgbClr val="163C4A"/>
                </a:solidFill>
                <a:latin typeface="Arial"/>
                <a:ea typeface="Arial"/>
                <a:cs typeface="Arial"/>
              </a:rPr>
              <a:t>05</a:t>
            </a:r>
          </a:p>
        </p:txBody>
      </p:sp>
    </p:spTree>
    <p:extLst>
      <p:ext uri="{BB962C8B-B14F-4D97-AF65-F5344CB8AC3E}">
        <p14:creationId xmlns:p14="http://schemas.microsoft.com/office/powerpoint/2010/main" val="598423365"/>
      </p:ext>
    </p:extLst>
  </p:cSld>
</p:sld>
</file>

<file path=ppt/slides/slide6.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A2E7E09-9893-454F-9364-1FE904ED0934}"/>
              </a:ext>
            </a:extLst>
          </p:cNvPr>
          <p:cNvSpPr>
            <a:spLocks xmlns:a="http://schemas.openxmlformats.org/drawingml/2006/main" noGrp="1"/>
          </p:cNvSpPr>
          <p:nvPr/>
        </p:nvSpPr>
        <p:spPr>
          <a:xfrm xmlns:a="http://schemas.openxmlformats.org/drawingml/2006/main">
            <a:off x="685800" y="419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67B70"/>
                </a:solidFill>
                <a:latin typeface="Arial"/>
                <a:ea typeface="Arial"/>
                <a:cs typeface="Arial"/>
              </a:defRPr>
            </a:pPr>
            <a:r>
              <a:rPr sz="1350" b="1">
                <a:solidFill>
                  <a:srgbClr val="367B70"/>
                </a:solidFill>
                <a:latin typeface="Arial"/>
                <a:ea typeface="Arial"/>
                <a:cs typeface="Arial"/>
              </a:rPr>
              <a:t>RELATIONAL DESIGN</a:t>
            </a:r>
          </a:p>
        </p:txBody>
      </p:sp>
      <p:sp>
        <p:nvSpPr>
          <p:cNvPr id="2" name="">
            <a:extLst xmlns:a="http://schemas.openxmlformats.org/drawingml/2006/main">
              <a:ext uri="{FF2B5EF4-FFF2-40B4-BE49-F238E27FC236}">
                <a16:creationId xmlns:a16="http://schemas.microsoft.com/office/drawing/2014/main" id="{A957089E-5AA5-4714-B472-EE7C2EC1D786}"/>
              </a:ext>
            </a:extLst>
          </p:cNvPr>
          <p:cNvSpPr>
            <a:spLocks xmlns:a="http://schemas.openxmlformats.org/drawingml/2006/main" noGrp="1"/>
          </p:cNvSpPr>
          <p:nvPr/>
        </p:nvSpPr>
        <p:spPr>
          <a:xfrm xmlns:a="http://schemas.openxmlformats.org/drawingml/2006/main">
            <a:off x="685800" y="1066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C4A"/>
                </a:solidFill>
                <a:latin typeface="Arial"/>
                <a:ea typeface="Arial"/>
                <a:cs typeface="Arial"/>
              </a:defRPr>
            </a:pPr>
            <a:r>
              <a:rPr sz="3225" b="1">
                <a:solidFill>
                  <a:srgbClr val="163C4A"/>
                </a:solidFill>
                <a:latin typeface="Arial"/>
                <a:ea typeface="Arial"/>
                <a:cs typeface="Arial"/>
              </a:rPr>
              <a:t>Ten related database tables</a:t>
            </a:r>
          </a:p>
        </p:txBody>
      </p:sp>
      <p:sp>
        <p:nvSpPr>
          <p:cNvPr id="3" name="">
            <a:extLst xmlns:a="http://schemas.openxmlformats.org/drawingml/2006/main">
              <a:ext uri="{FF2B5EF4-FFF2-40B4-BE49-F238E27FC236}">
                <a16:creationId xmlns:a16="http://schemas.microsoft.com/office/drawing/2014/main" id="{0EC1B904-8145-4478-964E-2FF5DF8E57B1}"/>
              </a:ext>
            </a:extLst>
          </p:cNvPr>
          <p:cNvSpPr>
            <a:spLocks xmlns:a="http://schemas.openxmlformats.org/drawingml/2006/main" noGrp="1"/>
          </p:cNvSpPr>
          <p:nvPr/>
        </p:nvSpPr>
        <p:spPr>
          <a:xfrm xmlns:a="http://schemas.openxmlformats.org/drawingml/2006/main">
            <a:off x="685800" y="23336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Patient → appointments and visits</a:t>
            </a:r>
          </a:p>
        </p:txBody>
      </p:sp>
      <p:sp>
        <p:nvSpPr>
          <p:cNvPr id="4" name="">
            <a:extLst xmlns:a="http://schemas.openxmlformats.org/drawingml/2006/main">
              <a:ext uri="{FF2B5EF4-FFF2-40B4-BE49-F238E27FC236}">
                <a16:creationId xmlns:a16="http://schemas.microsoft.com/office/drawing/2014/main" id="{1816128F-12D8-4B95-892C-67663DB90EAE}"/>
              </a:ext>
            </a:extLst>
          </p:cNvPr>
          <p:cNvSpPr>
            <a:spLocks xmlns:a="http://schemas.openxmlformats.org/drawingml/2006/main" noGrp="1"/>
          </p:cNvSpPr>
          <p:nvPr/>
        </p:nvSpPr>
        <p:spPr>
          <a:xfrm xmlns:a="http://schemas.openxmlformats.org/drawingml/2006/main">
            <a:off x="685800" y="28670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Visit → laboratory orders and prescriptions</a:t>
            </a:r>
          </a:p>
        </p:txBody>
      </p:sp>
      <p:sp>
        <p:nvSpPr>
          <p:cNvPr id="5" name="">
            <a:extLst xmlns:a="http://schemas.openxmlformats.org/drawingml/2006/main">
              <a:ext uri="{FF2B5EF4-FFF2-40B4-BE49-F238E27FC236}">
                <a16:creationId xmlns:a16="http://schemas.microsoft.com/office/drawing/2014/main" id="{049AC789-C0B6-423A-B686-E94C197AE4A4}"/>
              </a:ext>
            </a:extLst>
          </p:cNvPr>
          <p:cNvSpPr>
            <a:spLocks xmlns:a="http://schemas.openxmlformats.org/drawingml/2006/main" noGrp="1"/>
          </p:cNvSpPr>
          <p:nvPr/>
        </p:nvSpPr>
        <p:spPr>
          <a:xfrm xmlns:a="http://schemas.openxmlformats.org/drawingml/2006/main">
            <a:off x="685800" y="34004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Visit ↔ invoice; invoice → payments</a:t>
            </a:r>
          </a:p>
        </p:txBody>
      </p:sp>
      <p:sp>
        <p:nvSpPr>
          <p:cNvPr id="6" name="">
            <a:extLst xmlns:a="http://schemas.openxmlformats.org/drawingml/2006/main">
              <a:ext uri="{FF2B5EF4-FFF2-40B4-BE49-F238E27FC236}">
                <a16:creationId xmlns:a16="http://schemas.microsoft.com/office/drawing/2014/main" id="{B34798C0-E4FE-46DE-930E-6B9A41C361CD}"/>
              </a:ext>
            </a:extLst>
          </p:cNvPr>
          <p:cNvSpPr>
            <a:spLocks xmlns:a="http://schemas.openxmlformats.org/drawingml/2006/main" noGrp="1"/>
          </p:cNvSpPr>
          <p:nvPr/>
        </p:nvSpPr>
        <p:spPr>
          <a:xfrm xmlns:a="http://schemas.openxmlformats.org/drawingml/2006/main">
            <a:off x="685800" y="39338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Medicine → prescriptions</a:t>
            </a:r>
          </a:p>
        </p:txBody>
      </p:sp>
      <p:sp>
        <p:nvSpPr>
          <p:cNvPr id="7" name="">
            <a:extLst xmlns:a="http://schemas.openxmlformats.org/drawingml/2006/main">
              <a:ext uri="{FF2B5EF4-FFF2-40B4-BE49-F238E27FC236}">
                <a16:creationId xmlns:a16="http://schemas.microsoft.com/office/drawing/2014/main" id="{86C84172-E6CE-441C-B4CC-FFC21A41E9C4}"/>
              </a:ext>
            </a:extLst>
          </p:cNvPr>
          <p:cNvSpPr>
            <a:spLocks xmlns:a="http://schemas.openxmlformats.org/drawingml/2006/main" noGrp="1"/>
          </p:cNvSpPr>
          <p:nvPr/>
        </p:nvSpPr>
        <p:spPr>
          <a:xfrm xmlns:a="http://schemas.openxmlformats.org/drawingml/2006/main">
            <a:off x="685800" y="44672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Users and audit logs support staff operations.</a:t>
            </a:r>
          </a:p>
        </p:txBody>
      </p:sp>
      <p:sp>
        <p:nvSpPr>
          <p:cNvPr id="8" name="">
            <a:extLst xmlns:a="http://schemas.openxmlformats.org/drawingml/2006/main">
              <a:ext uri="{FF2B5EF4-FFF2-40B4-BE49-F238E27FC236}">
                <a16:creationId xmlns:a16="http://schemas.microsoft.com/office/drawing/2014/main" id="{106463CE-E023-4700-AE2E-87157D1ABBC6}"/>
              </a:ext>
            </a:extLst>
          </p:cNvPr>
          <p:cNvSpPr>
            <a:spLocks xmlns:a="http://schemas.openxmlformats.org/drawingml/2006/main" noGrp="1"/>
          </p:cNvSpPr>
          <p:nvPr/>
        </p:nvSpPr>
        <p:spPr>
          <a:xfrm xmlns:a="http://schemas.openxmlformats.org/drawingml/2006/main">
            <a:off x="68580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16E"/>
                </a:solidFill>
                <a:latin typeface="Arial"/>
                <a:ea typeface="Arial"/>
                <a:cs typeface="Arial"/>
              </a:defRPr>
            </a:pPr>
            <a:r>
              <a:rPr sz="1050" b="0">
                <a:solidFill>
                  <a:srgbClr val="56716E"/>
                </a:solidFill>
                <a:latin typeface="Arial"/>
                <a:ea typeface="Arial"/>
                <a:cs typeface="Arial"/>
              </a:rPr>
              <a:t>FARAJA  /  UNIVERSITY GROUP PROJECT</a:t>
            </a:r>
          </a:p>
        </p:txBody>
      </p:sp>
      <p:sp>
        <p:nvSpPr>
          <p:cNvPr id="9" name="">
            <a:extLst xmlns:a="http://schemas.openxmlformats.org/drawingml/2006/main">
              <a:ext uri="{FF2B5EF4-FFF2-40B4-BE49-F238E27FC236}">
                <a16:creationId xmlns:a16="http://schemas.microsoft.com/office/drawing/2014/main" id="{B27CB0F3-EE44-47DE-9E78-87794FC109D8}"/>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63C4A"/>
                </a:solidFill>
                <a:latin typeface="Arial"/>
                <a:ea typeface="Arial"/>
                <a:cs typeface="Arial"/>
              </a:defRPr>
            </a:pPr>
            <a:r>
              <a:rPr sz="1050" b="0">
                <a:solidFill>
                  <a:srgbClr val="163C4A"/>
                </a:solidFill>
                <a:latin typeface="Arial"/>
                <a:ea typeface="Arial"/>
                <a:cs typeface="Arial"/>
              </a:rPr>
              <a:t>06</a:t>
            </a:r>
          </a:p>
        </p:txBody>
      </p:sp>
    </p:spTree>
    <p:extLst>
      <p:ext uri="{BB962C8B-B14F-4D97-AF65-F5344CB8AC3E}">
        <p14:creationId xmlns:p14="http://schemas.microsoft.com/office/powerpoint/2010/main" val="1972192908"/>
      </p:ext>
    </p:extLst>
  </p:cSld>
</p:sld>
</file>

<file path=ppt/slides/slide7.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AB41D38-27BC-4385-BE61-ED217D096F9A}"/>
              </a:ext>
            </a:extLst>
          </p:cNvPr>
          <p:cNvSpPr>
            <a:spLocks xmlns:a="http://schemas.openxmlformats.org/drawingml/2006/main" noGrp="1"/>
          </p:cNvSpPr>
          <p:nvPr/>
        </p:nvSpPr>
        <p:spPr>
          <a:xfrm xmlns:a="http://schemas.openxmlformats.org/drawingml/2006/main">
            <a:off x="685800" y="419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67B70"/>
                </a:solidFill>
                <a:latin typeface="Arial"/>
                <a:ea typeface="Arial"/>
                <a:cs typeface="Arial"/>
              </a:defRPr>
            </a:pPr>
            <a:r>
              <a:rPr sz="1350" b="1">
                <a:solidFill>
                  <a:srgbClr val="367B70"/>
                </a:solidFill>
                <a:latin typeface="Arial"/>
                <a:ea typeface="Arial"/>
                <a:cs typeface="Arial"/>
              </a:rPr>
              <a:t>CODE &amp; OBJECT-ORIENTED DESIGN</a:t>
            </a:r>
          </a:p>
        </p:txBody>
      </p:sp>
      <p:sp>
        <p:nvSpPr>
          <p:cNvPr id="2" name="">
            <a:extLst xmlns:a="http://schemas.openxmlformats.org/drawingml/2006/main">
              <a:ext uri="{FF2B5EF4-FFF2-40B4-BE49-F238E27FC236}">
                <a16:creationId xmlns:a16="http://schemas.microsoft.com/office/drawing/2014/main" id="{AF10950F-3390-4D9A-ADEA-D9722782987A}"/>
              </a:ext>
            </a:extLst>
          </p:cNvPr>
          <p:cNvSpPr>
            <a:spLocks xmlns:a="http://schemas.openxmlformats.org/drawingml/2006/main" noGrp="1"/>
          </p:cNvSpPr>
          <p:nvPr/>
        </p:nvSpPr>
        <p:spPr>
          <a:xfrm xmlns:a="http://schemas.openxmlformats.org/drawingml/2006/main">
            <a:off x="685800" y="1066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C4A"/>
                </a:solidFill>
                <a:latin typeface="Arial"/>
                <a:ea typeface="Arial"/>
                <a:cs typeface="Arial"/>
              </a:defRPr>
            </a:pPr>
            <a:r>
              <a:rPr sz="3225" b="1">
                <a:solidFill>
                  <a:srgbClr val="163C4A"/>
                </a:solidFill>
                <a:latin typeface="Arial"/>
                <a:ea typeface="Arial"/>
                <a:cs typeface="Arial"/>
              </a:rPr>
              <a:t>Each layer has one clear purpose</a:t>
            </a:r>
          </a:p>
        </p:txBody>
      </p:sp>
      <p:sp>
        <p:nvSpPr>
          <p:cNvPr id="3" name="">
            <a:extLst xmlns:a="http://schemas.openxmlformats.org/drawingml/2006/main">
              <a:ext uri="{FF2B5EF4-FFF2-40B4-BE49-F238E27FC236}">
                <a16:creationId xmlns:a16="http://schemas.microsoft.com/office/drawing/2014/main" id="{D37AE5FD-DFB3-401D-A5BD-C0D1D73D2BFA}"/>
              </a:ext>
            </a:extLst>
          </p:cNvPr>
          <p:cNvSpPr>
            <a:spLocks xmlns:a="http://schemas.openxmlformats.org/drawingml/2006/main" noGrp="1"/>
          </p:cNvSpPr>
          <p:nvPr/>
        </p:nvSpPr>
        <p:spPr>
          <a:xfrm xmlns:a="http://schemas.openxmlformats.org/drawingml/2006/main">
            <a:off x="685800" y="23336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Controller: HTTP routes, validated request DTOs</a:t>
            </a:r>
          </a:p>
        </p:txBody>
      </p:sp>
      <p:sp>
        <p:nvSpPr>
          <p:cNvPr id="4" name="">
            <a:extLst xmlns:a="http://schemas.openxmlformats.org/drawingml/2006/main">
              <a:ext uri="{FF2B5EF4-FFF2-40B4-BE49-F238E27FC236}">
                <a16:creationId xmlns:a16="http://schemas.microsoft.com/office/drawing/2014/main" id="{8E7916BA-A729-4A2B-8A7C-FD79E6BBDB75}"/>
              </a:ext>
            </a:extLst>
          </p:cNvPr>
          <p:cNvSpPr>
            <a:spLocks xmlns:a="http://schemas.openxmlformats.org/drawingml/2006/main" noGrp="1"/>
          </p:cNvSpPr>
          <p:nvPr/>
        </p:nvSpPr>
        <p:spPr>
          <a:xfrm xmlns:a="http://schemas.openxmlformats.org/drawingml/2006/main">
            <a:off x="685800" y="28670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Service: business rules and transactions</a:t>
            </a:r>
          </a:p>
        </p:txBody>
      </p:sp>
      <p:sp>
        <p:nvSpPr>
          <p:cNvPr id="5" name="">
            <a:extLst xmlns:a="http://schemas.openxmlformats.org/drawingml/2006/main">
              <a:ext uri="{FF2B5EF4-FFF2-40B4-BE49-F238E27FC236}">
                <a16:creationId xmlns:a16="http://schemas.microsoft.com/office/drawing/2014/main" id="{E90F0220-9FCC-4753-9F9F-1381647AF36E}"/>
              </a:ext>
            </a:extLst>
          </p:cNvPr>
          <p:cNvSpPr>
            <a:spLocks xmlns:a="http://schemas.openxmlformats.org/drawingml/2006/main" noGrp="1"/>
          </p:cNvSpPr>
          <p:nvPr/>
        </p:nvSpPr>
        <p:spPr>
          <a:xfrm xmlns:a="http://schemas.openxmlformats.org/drawingml/2006/main">
            <a:off x="685800" y="34004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Repository: database access through JPA</a:t>
            </a:r>
          </a:p>
        </p:txBody>
      </p:sp>
      <p:sp>
        <p:nvSpPr>
          <p:cNvPr id="6" name="">
            <a:extLst xmlns:a="http://schemas.openxmlformats.org/drawingml/2006/main">
              <a:ext uri="{FF2B5EF4-FFF2-40B4-BE49-F238E27FC236}">
                <a16:creationId xmlns:a16="http://schemas.microsoft.com/office/drawing/2014/main" id="{57C2EB8E-F7F3-42D2-A5B6-8DF22051AC41}"/>
              </a:ext>
            </a:extLst>
          </p:cNvPr>
          <p:cNvSpPr>
            <a:spLocks xmlns:a="http://schemas.openxmlformats.org/drawingml/2006/main" noGrp="1"/>
          </p:cNvSpPr>
          <p:nvPr/>
        </p:nvSpPr>
        <p:spPr>
          <a:xfrm xmlns:a="http://schemas.openxmlformats.org/drawingml/2006/main">
            <a:off x="685800" y="39338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Entity: persistent state and relationships</a:t>
            </a:r>
          </a:p>
        </p:txBody>
      </p:sp>
      <p:sp>
        <p:nvSpPr>
          <p:cNvPr id="7" name="">
            <a:extLst xmlns:a="http://schemas.openxmlformats.org/drawingml/2006/main">
              <a:ext uri="{FF2B5EF4-FFF2-40B4-BE49-F238E27FC236}">
                <a16:creationId xmlns:a16="http://schemas.microsoft.com/office/drawing/2014/main" id="{4FC4F79E-35CF-4364-920F-4983E46DCCEA}"/>
              </a:ext>
            </a:extLst>
          </p:cNvPr>
          <p:cNvSpPr>
            <a:spLocks xmlns:a="http://schemas.openxmlformats.org/drawingml/2006/main" noGrp="1"/>
          </p:cNvSpPr>
          <p:nvPr/>
        </p:nvSpPr>
        <p:spPr>
          <a:xfrm xmlns:a="http://schemas.openxmlformats.org/drawingml/2006/main">
            <a:off x="685800" y="44672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Shared frontend modules: fetch, rendering and forms</a:t>
            </a:r>
          </a:p>
        </p:txBody>
      </p:sp>
      <p:sp>
        <p:nvSpPr>
          <p:cNvPr id="8" name="">
            <a:extLst xmlns:a="http://schemas.openxmlformats.org/drawingml/2006/main">
              <a:ext uri="{FF2B5EF4-FFF2-40B4-BE49-F238E27FC236}">
                <a16:creationId xmlns:a16="http://schemas.microsoft.com/office/drawing/2014/main" id="{863D508A-9CEF-4F31-8237-2E57FAD6AE13}"/>
              </a:ext>
            </a:extLst>
          </p:cNvPr>
          <p:cNvSpPr>
            <a:spLocks xmlns:a="http://schemas.openxmlformats.org/drawingml/2006/main" noGrp="1"/>
          </p:cNvSpPr>
          <p:nvPr/>
        </p:nvSpPr>
        <p:spPr>
          <a:xfrm xmlns:a="http://schemas.openxmlformats.org/drawingml/2006/main">
            <a:off x="68580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16E"/>
                </a:solidFill>
                <a:latin typeface="Arial"/>
                <a:ea typeface="Arial"/>
                <a:cs typeface="Arial"/>
              </a:defRPr>
            </a:pPr>
            <a:r>
              <a:rPr sz="1050" b="0">
                <a:solidFill>
                  <a:srgbClr val="56716E"/>
                </a:solidFill>
                <a:latin typeface="Arial"/>
                <a:ea typeface="Arial"/>
                <a:cs typeface="Arial"/>
              </a:rPr>
              <a:t>FARAJA  /  UNIVERSITY GROUP PROJECT</a:t>
            </a:r>
          </a:p>
        </p:txBody>
      </p:sp>
      <p:sp>
        <p:nvSpPr>
          <p:cNvPr id="9" name="">
            <a:extLst xmlns:a="http://schemas.openxmlformats.org/drawingml/2006/main">
              <a:ext uri="{FF2B5EF4-FFF2-40B4-BE49-F238E27FC236}">
                <a16:creationId xmlns:a16="http://schemas.microsoft.com/office/drawing/2014/main" id="{E49E9CBB-69C1-4D2C-B702-D53A804E9510}"/>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63C4A"/>
                </a:solidFill>
                <a:latin typeface="Arial"/>
                <a:ea typeface="Arial"/>
                <a:cs typeface="Arial"/>
              </a:defRPr>
            </a:pPr>
            <a:r>
              <a:rPr sz="1050" b="0">
                <a:solidFill>
                  <a:srgbClr val="163C4A"/>
                </a:solidFill>
                <a:latin typeface="Arial"/>
                <a:ea typeface="Arial"/>
                <a:cs typeface="Arial"/>
              </a:rPr>
              <a:t>07</a:t>
            </a:r>
          </a:p>
        </p:txBody>
      </p:sp>
    </p:spTree>
    <p:extLst>
      <p:ext uri="{BB962C8B-B14F-4D97-AF65-F5344CB8AC3E}">
        <p14:creationId xmlns:p14="http://schemas.microsoft.com/office/powerpoint/2010/main" val="995139802"/>
      </p:ext>
    </p:extLst>
  </p:cSld>
</p:sld>
</file>

<file path=ppt/slides/slide8.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A92FD4-735B-4CBD-91E4-4C2B386AA0FC}"/>
              </a:ext>
            </a:extLst>
          </p:cNvPr>
          <p:cNvSpPr>
            <a:spLocks xmlns:a="http://schemas.openxmlformats.org/drawingml/2006/main" noGrp="1"/>
          </p:cNvSpPr>
          <p:nvPr/>
        </p:nvSpPr>
        <p:spPr>
          <a:xfrm xmlns:a="http://schemas.openxmlformats.org/drawingml/2006/main">
            <a:off x="685800" y="419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67B70"/>
                </a:solidFill>
                <a:latin typeface="Arial"/>
                <a:ea typeface="Arial"/>
                <a:cs typeface="Arial"/>
              </a:defRPr>
            </a:pPr>
            <a:r>
              <a:rPr sz="1350" b="1">
                <a:solidFill>
                  <a:srgbClr val="367B70"/>
                </a:solidFill>
                <a:latin typeface="Arial"/>
                <a:ea typeface="Arial"/>
                <a:cs typeface="Arial"/>
              </a:rPr>
              <a:t>SECURITY</a:t>
            </a:r>
          </a:p>
        </p:txBody>
      </p:sp>
      <p:sp>
        <p:nvSpPr>
          <p:cNvPr id="2" name="">
            <a:extLst xmlns:a="http://schemas.openxmlformats.org/drawingml/2006/main">
              <a:ext uri="{FF2B5EF4-FFF2-40B4-BE49-F238E27FC236}">
                <a16:creationId xmlns:a16="http://schemas.microsoft.com/office/drawing/2014/main" id="{36F28F76-79E2-495F-A5AB-9F4A878C3951}"/>
              </a:ext>
            </a:extLst>
          </p:cNvPr>
          <p:cNvSpPr>
            <a:spLocks xmlns:a="http://schemas.openxmlformats.org/drawingml/2006/main" noGrp="1"/>
          </p:cNvSpPr>
          <p:nvPr/>
        </p:nvSpPr>
        <p:spPr>
          <a:xfrm xmlns:a="http://schemas.openxmlformats.org/drawingml/2006/main">
            <a:off x="685800" y="1066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C4A"/>
                </a:solidFill>
                <a:latin typeface="Arial"/>
                <a:ea typeface="Arial"/>
                <a:cs typeface="Arial"/>
              </a:defRPr>
            </a:pPr>
            <a:r>
              <a:rPr sz="3225" b="1">
                <a:solidFill>
                  <a:srgbClr val="163C4A"/>
                </a:solidFill>
                <a:latin typeface="Arial"/>
                <a:ea typeface="Arial"/>
                <a:cs typeface="Arial"/>
              </a:rPr>
              <a:t>Authentication and validation</a:t>
            </a:r>
          </a:p>
        </p:txBody>
      </p:sp>
      <p:sp>
        <p:nvSpPr>
          <p:cNvPr id="3" name="">
            <a:extLst xmlns:a="http://schemas.openxmlformats.org/drawingml/2006/main">
              <a:ext uri="{FF2B5EF4-FFF2-40B4-BE49-F238E27FC236}">
                <a16:creationId xmlns:a16="http://schemas.microsoft.com/office/drawing/2014/main" id="{9DE6E182-5B01-4EAD-95E7-D36D51FCB61C}"/>
              </a:ext>
            </a:extLst>
          </p:cNvPr>
          <p:cNvSpPr>
            <a:spLocks xmlns:a="http://schemas.openxmlformats.org/drawingml/2006/main" noGrp="1"/>
          </p:cNvSpPr>
          <p:nvPr/>
        </p:nvSpPr>
        <p:spPr>
          <a:xfrm xmlns:a="http://schemas.openxmlformats.org/drawingml/2006/main">
            <a:off x="685800" y="23336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Session login; BCrypt password hashes</a:t>
            </a:r>
          </a:p>
        </p:txBody>
      </p:sp>
      <p:sp>
        <p:nvSpPr>
          <p:cNvPr id="4" name="">
            <a:extLst xmlns:a="http://schemas.openxmlformats.org/drawingml/2006/main">
              <a:ext uri="{FF2B5EF4-FFF2-40B4-BE49-F238E27FC236}">
                <a16:creationId xmlns:a16="http://schemas.microsoft.com/office/drawing/2014/main" id="{E4DE37FD-A717-4E8F-9E89-03438476943D}"/>
              </a:ext>
            </a:extLst>
          </p:cNvPr>
          <p:cNvSpPr>
            <a:spLocks xmlns:a="http://schemas.openxmlformats.org/drawingml/2006/main" noGrp="1"/>
          </p:cNvSpPr>
          <p:nvPr/>
        </p:nvSpPr>
        <p:spPr>
          <a:xfrm xmlns:a="http://schemas.openxmlformats.org/drawingml/2006/main">
            <a:off x="685800" y="28670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CSRF token sent with state-changing requests</a:t>
            </a:r>
          </a:p>
        </p:txBody>
      </p:sp>
      <p:sp>
        <p:nvSpPr>
          <p:cNvPr id="5" name="">
            <a:extLst xmlns:a="http://schemas.openxmlformats.org/drawingml/2006/main">
              <a:ext uri="{FF2B5EF4-FFF2-40B4-BE49-F238E27FC236}">
                <a16:creationId xmlns:a16="http://schemas.microsoft.com/office/drawing/2014/main" id="{DF25CCFA-7D8B-4DF4-99F8-D5507C07CCA2}"/>
              </a:ext>
            </a:extLst>
          </p:cNvPr>
          <p:cNvSpPr>
            <a:spLocks xmlns:a="http://schemas.openxmlformats.org/drawingml/2006/main" noGrp="1"/>
          </p:cNvSpPr>
          <p:nvPr/>
        </p:nvSpPr>
        <p:spPr>
          <a:xfrm xmlns:a="http://schemas.openxmlformats.org/drawingml/2006/main">
            <a:off x="685800" y="34004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Staff roles restrict protected operations</a:t>
            </a:r>
          </a:p>
        </p:txBody>
      </p:sp>
      <p:sp>
        <p:nvSpPr>
          <p:cNvPr id="6" name="">
            <a:extLst xmlns:a="http://schemas.openxmlformats.org/drawingml/2006/main">
              <a:ext uri="{FF2B5EF4-FFF2-40B4-BE49-F238E27FC236}">
                <a16:creationId xmlns:a16="http://schemas.microsoft.com/office/drawing/2014/main" id="{F55C0D2D-79F5-478B-A353-CD291B8F637B}"/>
              </a:ext>
            </a:extLst>
          </p:cNvPr>
          <p:cNvSpPr>
            <a:spLocks xmlns:a="http://schemas.openxmlformats.org/drawingml/2006/main" noGrp="1"/>
          </p:cNvSpPr>
          <p:nvPr/>
        </p:nvSpPr>
        <p:spPr>
          <a:xfrm xmlns:a="http://schemas.openxmlformats.org/drawingml/2006/main">
            <a:off x="685800" y="39338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Bean Validation plus service business rules</a:t>
            </a:r>
          </a:p>
        </p:txBody>
      </p:sp>
      <p:sp>
        <p:nvSpPr>
          <p:cNvPr id="7" name="">
            <a:extLst xmlns:a="http://schemas.openxmlformats.org/drawingml/2006/main">
              <a:ext uri="{FF2B5EF4-FFF2-40B4-BE49-F238E27FC236}">
                <a16:creationId xmlns:a16="http://schemas.microsoft.com/office/drawing/2014/main" id="{78D9D08A-FD10-4D66-BD9C-FD32F90DE838}"/>
              </a:ext>
            </a:extLst>
          </p:cNvPr>
          <p:cNvSpPr>
            <a:spLocks xmlns:a="http://schemas.openxmlformats.org/drawingml/2006/main" noGrp="1"/>
          </p:cNvSpPr>
          <p:nvPr/>
        </p:nvSpPr>
        <p:spPr>
          <a:xfrm xmlns:a="http://schemas.openxmlformats.org/drawingml/2006/main">
            <a:off x="685800" y="44672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Audit entries record selected write actions.</a:t>
            </a:r>
          </a:p>
        </p:txBody>
      </p:sp>
      <p:sp>
        <p:nvSpPr>
          <p:cNvPr id="8" name="">
            <a:extLst xmlns:a="http://schemas.openxmlformats.org/drawingml/2006/main">
              <a:ext uri="{FF2B5EF4-FFF2-40B4-BE49-F238E27FC236}">
                <a16:creationId xmlns:a16="http://schemas.microsoft.com/office/drawing/2014/main" id="{D322A00B-503D-4135-B595-3AE5E63AD3F2}"/>
              </a:ext>
            </a:extLst>
          </p:cNvPr>
          <p:cNvSpPr>
            <a:spLocks xmlns:a="http://schemas.openxmlformats.org/drawingml/2006/main" noGrp="1"/>
          </p:cNvSpPr>
          <p:nvPr/>
        </p:nvSpPr>
        <p:spPr>
          <a:xfrm xmlns:a="http://schemas.openxmlformats.org/drawingml/2006/main">
            <a:off x="68580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16E"/>
                </a:solidFill>
                <a:latin typeface="Arial"/>
                <a:ea typeface="Arial"/>
                <a:cs typeface="Arial"/>
              </a:defRPr>
            </a:pPr>
            <a:r>
              <a:rPr sz="1050" b="0">
                <a:solidFill>
                  <a:srgbClr val="56716E"/>
                </a:solidFill>
                <a:latin typeface="Arial"/>
                <a:ea typeface="Arial"/>
                <a:cs typeface="Arial"/>
              </a:rPr>
              <a:t>FARAJA  /  UNIVERSITY GROUP PROJECT</a:t>
            </a:r>
          </a:p>
        </p:txBody>
      </p:sp>
      <p:sp>
        <p:nvSpPr>
          <p:cNvPr id="9" name="">
            <a:extLst xmlns:a="http://schemas.openxmlformats.org/drawingml/2006/main">
              <a:ext uri="{FF2B5EF4-FFF2-40B4-BE49-F238E27FC236}">
                <a16:creationId xmlns:a16="http://schemas.microsoft.com/office/drawing/2014/main" id="{FBCF47BD-5A7C-41C9-8BEF-291D7416D1A5}"/>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63C4A"/>
                </a:solidFill>
                <a:latin typeface="Arial"/>
                <a:ea typeface="Arial"/>
                <a:cs typeface="Arial"/>
              </a:defRPr>
            </a:pPr>
            <a:r>
              <a:rPr sz="1050" b="0">
                <a:solidFill>
                  <a:srgbClr val="163C4A"/>
                </a:solidFill>
                <a:latin typeface="Arial"/>
                <a:ea typeface="Arial"/>
                <a:cs typeface="Arial"/>
              </a:rPr>
              <a:t>08</a:t>
            </a:r>
          </a:p>
        </p:txBody>
      </p:sp>
    </p:spTree>
    <p:extLst>
      <p:ext uri="{BB962C8B-B14F-4D97-AF65-F5344CB8AC3E}">
        <p14:creationId xmlns:p14="http://schemas.microsoft.com/office/powerpoint/2010/main" val="81622675"/>
      </p:ext>
    </p:extLst>
  </p:cSld>
</p:sld>
</file>

<file path=ppt/slides/slide9.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2A1F49-8252-4ABD-ACC7-B5E91FD0FED0}"/>
              </a:ext>
            </a:extLst>
          </p:cNvPr>
          <p:cNvSpPr>
            <a:spLocks xmlns:a="http://schemas.openxmlformats.org/drawingml/2006/main" noGrp="1"/>
          </p:cNvSpPr>
          <p:nvPr/>
        </p:nvSpPr>
        <p:spPr>
          <a:xfrm xmlns:a="http://schemas.openxmlformats.org/drawingml/2006/main">
            <a:off x="685800" y="419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67B70"/>
                </a:solidFill>
                <a:latin typeface="Arial"/>
                <a:ea typeface="Arial"/>
                <a:cs typeface="Arial"/>
              </a:defRPr>
            </a:pPr>
            <a:r>
              <a:rPr sz="1350" b="1">
                <a:solidFill>
                  <a:srgbClr val="367B70"/>
                </a:solidFill>
                <a:latin typeface="Arial"/>
                <a:ea typeface="Arial"/>
                <a:cs typeface="Arial"/>
              </a:rPr>
              <a:t>TRANSACTION INTEGRITY</a:t>
            </a:r>
          </a:p>
        </p:txBody>
      </p:sp>
      <p:sp>
        <p:nvSpPr>
          <p:cNvPr id="2" name="">
            <a:extLst xmlns:a="http://schemas.openxmlformats.org/drawingml/2006/main">
              <a:ext uri="{FF2B5EF4-FFF2-40B4-BE49-F238E27FC236}">
                <a16:creationId xmlns:a16="http://schemas.microsoft.com/office/drawing/2014/main" id="{2FD8DC93-58BD-4F03-8BAD-2C550BA43836}"/>
              </a:ext>
            </a:extLst>
          </p:cNvPr>
          <p:cNvSpPr>
            <a:spLocks xmlns:a="http://schemas.openxmlformats.org/drawingml/2006/main" noGrp="1"/>
          </p:cNvSpPr>
          <p:nvPr/>
        </p:nvSpPr>
        <p:spPr>
          <a:xfrm xmlns:a="http://schemas.openxmlformats.org/drawingml/2006/main">
            <a:off x="685800" y="1066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C4A"/>
                </a:solidFill>
                <a:latin typeface="Arial"/>
                <a:ea typeface="Arial"/>
                <a:cs typeface="Arial"/>
              </a:defRPr>
            </a:pPr>
            <a:r>
              <a:rPr sz="3225" b="1">
                <a:solidFill>
                  <a:srgbClr val="163C4A"/>
                </a:solidFill>
                <a:latin typeface="Arial"/>
                <a:ea typeface="Arial"/>
                <a:cs typeface="Arial"/>
              </a:rPr>
              <a:t>Protect stock and payment totals</a:t>
            </a:r>
          </a:p>
        </p:txBody>
      </p:sp>
      <p:sp>
        <p:nvSpPr>
          <p:cNvPr id="3" name="">
            <a:extLst xmlns:a="http://schemas.openxmlformats.org/drawingml/2006/main">
              <a:ext uri="{FF2B5EF4-FFF2-40B4-BE49-F238E27FC236}">
                <a16:creationId xmlns:a16="http://schemas.microsoft.com/office/drawing/2014/main" id="{5977EB9C-6ED9-4FD3-ACE7-43CF3FD6BAA2}"/>
              </a:ext>
            </a:extLst>
          </p:cNvPr>
          <p:cNvSpPr>
            <a:spLocks xmlns:a="http://schemas.openxmlformats.org/drawingml/2006/main" noGrp="1"/>
          </p:cNvSpPr>
          <p:nvPr/>
        </p:nvSpPr>
        <p:spPr>
          <a:xfrm xmlns:a="http://schemas.openxmlformats.org/drawingml/2006/main">
            <a:off x="685800" y="23336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Dispensing checks stock and medicine expiry.</a:t>
            </a:r>
          </a:p>
        </p:txBody>
      </p:sp>
      <p:sp>
        <p:nvSpPr>
          <p:cNvPr id="4" name="">
            <a:extLst xmlns:a="http://schemas.openxmlformats.org/drawingml/2006/main">
              <a:ext uri="{FF2B5EF4-FFF2-40B4-BE49-F238E27FC236}">
                <a16:creationId xmlns:a16="http://schemas.microsoft.com/office/drawing/2014/main" id="{1D175E02-CF10-48D1-BE84-609DAAB09D4B}"/>
              </a:ext>
            </a:extLst>
          </p:cNvPr>
          <p:cNvSpPr>
            <a:spLocks xmlns:a="http://schemas.openxmlformats.org/drawingml/2006/main" noGrp="1"/>
          </p:cNvSpPr>
          <p:nvPr/>
        </p:nvSpPr>
        <p:spPr>
          <a:xfrm xmlns:a="http://schemas.openxmlformats.org/drawingml/2006/main">
            <a:off x="685800" y="28670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Conditional stock update prevents negative inventory.</a:t>
            </a:r>
          </a:p>
        </p:txBody>
      </p:sp>
      <p:sp>
        <p:nvSpPr>
          <p:cNvPr id="5" name="">
            <a:extLst xmlns:a="http://schemas.openxmlformats.org/drawingml/2006/main">
              <a:ext uri="{FF2B5EF4-FFF2-40B4-BE49-F238E27FC236}">
                <a16:creationId xmlns:a16="http://schemas.microsoft.com/office/drawing/2014/main" id="{27449970-A6C6-4643-97E4-7B78F618B534}"/>
              </a:ext>
            </a:extLst>
          </p:cNvPr>
          <p:cNvSpPr>
            <a:spLocks xmlns:a="http://schemas.openxmlformats.org/drawingml/2006/main" noGrp="1"/>
          </p:cNvSpPr>
          <p:nvPr/>
        </p:nvSpPr>
        <p:spPr>
          <a:xfrm xmlns:a="http://schemas.openxmlformats.org/drawingml/2006/main">
            <a:off x="685800" y="34004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Prescription locking prevents duplicate dispensing.</a:t>
            </a:r>
          </a:p>
        </p:txBody>
      </p:sp>
      <p:sp>
        <p:nvSpPr>
          <p:cNvPr id="6" name="">
            <a:extLst xmlns:a="http://schemas.openxmlformats.org/drawingml/2006/main">
              <a:ext uri="{FF2B5EF4-FFF2-40B4-BE49-F238E27FC236}">
                <a16:creationId xmlns:a16="http://schemas.microsoft.com/office/drawing/2014/main" id="{7438D2B7-3543-4F77-A72C-D133A4614B14}"/>
              </a:ext>
            </a:extLst>
          </p:cNvPr>
          <p:cNvSpPr>
            <a:spLocks xmlns:a="http://schemas.openxmlformats.org/drawingml/2006/main" noGrp="1"/>
          </p:cNvSpPr>
          <p:nvPr/>
        </p:nvSpPr>
        <p:spPr>
          <a:xfrm xmlns:a="http://schemas.openxmlformats.org/drawingml/2006/main">
            <a:off x="685800" y="39338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Invoice locking protects concurrent payment updates.</a:t>
            </a:r>
          </a:p>
        </p:txBody>
      </p:sp>
      <p:sp>
        <p:nvSpPr>
          <p:cNvPr id="7" name="">
            <a:extLst xmlns:a="http://schemas.openxmlformats.org/drawingml/2006/main">
              <a:ext uri="{FF2B5EF4-FFF2-40B4-BE49-F238E27FC236}">
                <a16:creationId xmlns:a16="http://schemas.microsoft.com/office/drawing/2014/main" id="{211DBA5F-B253-4629-88E3-31306946B1AE}"/>
              </a:ext>
            </a:extLst>
          </p:cNvPr>
          <p:cNvSpPr>
            <a:spLocks xmlns:a="http://schemas.openxmlformats.org/drawingml/2006/main" noGrp="1"/>
          </p:cNvSpPr>
          <p:nvPr/>
        </p:nvSpPr>
        <p:spPr>
          <a:xfrm xmlns:a="http://schemas.openxmlformats.org/drawingml/2006/main">
            <a:off x="68580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16E"/>
                </a:solidFill>
                <a:latin typeface="Arial"/>
                <a:ea typeface="Arial"/>
                <a:cs typeface="Arial"/>
              </a:defRPr>
            </a:pPr>
            <a:r>
              <a:rPr sz="1050" b="0">
                <a:solidFill>
                  <a:srgbClr val="56716E"/>
                </a:solidFill>
                <a:latin typeface="Arial"/>
                <a:ea typeface="Arial"/>
                <a:cs typeface="Arial"/>
              </a:rPr>
              <a:t>FARAJA  /  UNIVERSITY GROUP PROJECT</a:t>
            </a:r>
          </a:p>
        </p:txBody>
      </p:sp>
      <p:sp>
        <p:nvSpPr>
          <p:cNvPr id="8" name="">
            <a:extLst xmlns:a="http://schemas.openxmlformats.org/drawingml/2006/main">
              <a:ext uri="{FF2B5EF4-FFF2-40B4-BE49-F238E27FC236}">
                <a16:creationId xmlns:a16="http://schemas.microsoft.com/office/drawing/2014/main" id="{354A2A23-6082-4D83-B0BB-E3F8E7CD772A}"/>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63C4A"/>
                </a:solidFill>
                <a:latin typeface="Arial"/>
                <a:ea typeface="Arial"/>
                <a:cs typeface="Arial"/>
              </a:defRPr>
            </a:pPr>
            <a:r>
              <a:rPr sz="1050" b="0">
                <a:solidFill>
                  <a:srgbClr val="163C4A"/>
                </a:solidFill>
                <a:latin typeface="Arial"/>
                <a:ea typeface="Arial"/>
                <a:cs typeface="Arial"/>
              </a:rPr>
              <a:t>09</a:t>
            </a:r>
          </a:p>
        </p:txBody>
      </p:sp>
    </p:spTree>
    <p:extLst>
      <p:ext uri="{BB962C8B-B14F-4D97-AF65-F5344CB8AC3E}">
        <p14:creationId xmlns:p14="http://schemas.microsoft.com/office/powerpoint/2010/main" val="1805297831"/>
      </p:ext>
    </p:extLst>
  </p:cSld>
</p:sld>
</file>

<file path=ppt/slides/slide10.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3F4D7FA-E3F7-44CF-BD4C-6795DA441F88}"/>
              </a:ext>
            </a:extLst>
          </p:cNvPr>
          <p:cNvSpPr>
            <a:spLocks xmlns:a="http://schemas.openxmlformats.org/drawingml/2006/main" noGrp="1"/>
          </p:cNvSpPr>
          <p:nvPr/>
        </p:nvSpPr>
        <p:spPr>
          <a:xfrm xmlns:a="http://schemas.openxmlformats.org/drawingml/2006/main">
            <a:off x="685800" y="419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67B70"/>
                </a:solidFill>
                <a:latin typeface="Arial"/>
                <a:ea typeface="Arial"/>
                <a:cs typeface="Arial"/>
              </a:defRPr>
            </a:pPr>
            <a:r>
              <a:rPr sz="1350" b="1">
                <a:solidFill>
                  <a:srgbClr val="367B70"/>
                </a:solidFill>
                <a:latin typeface="Arial"/>
                <a:ea typeface="Arial"/>
                <a:cs typeface="Arial"/>
              </a:rPr>
              <a:t>VALIDATION</a:t>
            </a:r>
          </a:p>
        </p:txBody>
      </p:sp>
      <p:sp>
        <p:nvSpPr>
          <p:cNvPr id="2" name="">
            <a:extLst xmlns:a="http://schemas.openxmlformats.org/drawingml/2006/main">
              <a:ext uri="{FF2B5EF4-FFF2-40B4-BE49-F238E27FC236}">
                <a16:creationId xmlns:a16="http://schemas.microsoft.com/office/drawing/2014/main" id="{F7C23E5E-E471-44A9-9977-A88A5456642A}"/>
              </a:ext>
            </a:extLst>
          </p:cNvPr>
          <p:cNvSpPr>
            <a:spLocks xmlns:a="http://schemas.openxmlformats.org/drawingml/2006/main" noGrp="1"/>
          </p:cNvSpPr>
          <p:nvPr/>
        </p:nvSpPr>
        <p:spPr>
          <a:xfrm xmlns:a="http://schemas.openxmlformats.org/drawingml/2006/main">
            <a:off x="685800" y="1066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C4A"/>
                </a:solidFill>
                <a:latin typeface="Arial"/>
                <a:ea typeface="Arial"/>
                <a:cs typeface="Arial"/>
              </a:defRPr>
            </a:pPr>
            <a:r>
              <a:rPr sz="3225" b="1">
                <a:solidFill>
                  <a:srgbClr val="163C4A"/>
                </a:solidFill>
                <a:latin typeface="Arial"/>
                <a:ea typeface="Arial"/>
                <a:cs typeface="Arial"/>
              </a:rPr>
              <a:t>Evidence from the tested version</a:t>
            </a:r>
          </a:p>
        </p:txBody>
      </p:sp>
      <p:sp>
        <p:nvSpPr>
          <p:cNvPr id="3" name="">
            <a:extLst xmlns:a="http://schemas.openxmlformats.org/drawingml/2006/main">
              <a:ext uri="{FF2B5EF4-FFF2-40B4-BE49-F238E27FC236}">
                <a16:creationId xmlns:a16="http://schemas.microsoft.com/office/drawing/2014/main" id="{D1149FCF-23F7-4047-A8AB-E0EC953AE039}"/>
              </a:ext>
            </a:extLst>
          </p:cNvPr>
          <p:cNvSpPr>
            <a:spLocks xmlns:a="http://schemas.openxmlformats.org/drawingml/2006/main" noGrp="1"/>
          </p:cNvSpPr>
          <p:nvPr/>
        </p:nvSpPr>
        <p:spPr>
          <a:xfrm xmlns:a="http://schemas.openxmlformats.org/drawingml/2006/main">
            <a:off x="685800" y="23336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8 automated tests passed; 0 failures and 0 errors.</a:t>
            </a:r>
          </a:p>
        </p:txBody>
      </p:sp>
      <p:sp>
        <p:nvSpPr>
          <p:cNvPr id="4" name="">
            <a:extLst xmlns:a="http://schemas.openxmlformats.org/drawingml/2006/main">
              <a:ext uri="{FF2B5EF4-FFF2-40B4-BE49-F238E27FC236}">
                <a16:creationId xmlns:a16="http://schemas.microsoft.com/office/drawing/2014/main" id="{05925B18-2350-4C88-8ECA-5BDC19BBAF78}"/>
              </a:ext>
            </a:extLst>
          </p:cNvPr>
          <p:cNvSpPr>
            <a:spLocks xmlns:a="http://schemas.openxmlformats.org/drawingml/2006/main" noGrp="1"/>
          </p:cNvSpPr>
          <p:nvPr/>
        </p:nvSpPr>
        <p:spPr>
          <a:xfrm xmlns:a="http://schemas.openxmlformats.org/drawingml/2006/main">
            <a:off x="685800" y="28670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Patient remained visible after refresh.</a:t>
            </a:r>
          </a:p>
        </p:txBody>
      </p:sp>
      <p:sp>
        <p:nvSpPr>
          <p:cNvPr id="5" name="">
            <a:extLst xmlns:a="http://schemas.openxmlformats.org/drawingml/2006/main">
              <a:ext uri="{FF2B5EF4-FFF2-40B4-BE49-F238E27FC236}">
                <a16:creationId xmlns:a16="http://schemas.microsoft.com/office/drawing/2014/main" id="{491FD286-7A8C-40EB-952C-C8C601F65521}"/>
              </a:ext>
            </a:extLst>
          </p:cNvPr>
          <p:cNvSpPr>
            <a:spLocks xmlns:a="http://schemas.openxmlformats.org/drawingml/2006/main" noGrp="1"/>
          </p:cNvSpPr>
          <p:nvPr/>
        </p:nvSpPr>
        <p:spPr>
          <a:xfrm xmlns:a="http://schemas.openxmlformats.org/drawingml/2006/main">
            <a:off x="685800" y="34004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Visit reached CONSULTED; laboratory work completed.</a:t>
            </a:r>
          </a:p>
        </p:txBody>
      </p:sp>
      <p:sp>
        <p:nvSpPr>
          <p:cNvPr id="6" name="">
            <a:extLst xmlns:a="http://schemas.openxmlformats.org/drawingml/2006/main">
              <a:ext uri="{FF2B5EF4-FFF2-40B4-BE49-F238E27FC236}">
                <a16:creationId xmlns:a16="http://schemas.microsoft.com/office/drawing/2014/main" id="{8AECF528-4D59-4477-937B-6B945498BA60}"/>
              </a:ext>
            </a:extLst>
          </p:cNvPr>
          <p:cNvSpPr>
            <a:spLocks xmlns:a="http://schemas.openxmlformats.org/drawingml/2006/main" noGrp="1"/>
          </p:cNvSpPr>
          <p:nvPr/>
        </p:nvSpPr>
        <p:spPr>
          <a:xfrm xmlns:a="http://schemas.openxmlformats.org/drawingml/2006/main">
            <a:off x="685800" y="39338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Dispensing and split payments worked in the demo.</a:t>
            </a:r>
          </a:p>
        </p:txBody>
      </p:sp>
      <p:sp>
        <p:nvSpPr>
          <p:cNvPr id="7" name="">
            <a:extLst xmlns:a="http://schemas.openxmlformats.org/drawingml/2006/main">
              <a:ext uri="{FF2B5EF4-FFF2-40B4-BE49-F238E27FC236}">
                <a16:creationId xmlns:a16="http://schemas.microsoft.com/office/drawing/2014/main" id="{FAC4BEBD-8C1F-480A-B989-88D0A5B68091}"/>
              </a:ext>
            </a:extLst>
          </p:cNvPr>
          <p:cNvSpPr>
            <a:spLocks xmlns:a="http://schemas.openxmlformats.org/drawingml/2006/main" noGrp="1"/>
          </p:cNvSpPr>
          <p:nvPr/>
        </p:nvSpPr>
        <p:spPr>
          <a:xfrm xmlns:a="http://schemas.openxmlformats.org/drawingml/2006/main">
            <a:off x="685800" y="44672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Patient history and audit were checked by the user.</a:t>
            </a:r>
          </a:p>
        </p:txBody>
      </p:sp>
      <p:sp>
        <p:nvSpPr>
          <p:cNvPr id="8" name="">
            <a:extLst xmlns:a="http://schemas.openxmlformats.org/drawingml/2006/main">
              <a:ext uri="{FF2B5EF4-FFF2-40B4-BE49-F238E27FC236}">
                <a16:creationId xmlns:a16="http://schemas.microsoft.com/office/drawing/2014/main" id="{B584FA45-DFBA-4AD6-8993-488AE4D6D5BE}"/>
              </a:ext>
            </a:extLst>
          </p:cNvPr>
          <p:cNvSpPr>
            <a:spLocks xmlns:a="http://schemas.openxmlformats.org/drawingml/2006/main" noGrp="1"/>
          </p:cNvSpPr>
          <p:nvPr/>
        </p:nvSpPr>
        <p:spPr>
          <a:xfrm xmlns:a="http://schemas.openxmlformats.org/drawingml/2006/main">
            <a:off x="68580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16E"/>
                </a:solidFill>
                <a:latin typeface="Arial"/>
                <a:ea typeface="Arial"/>
                <a:cs typeface="Arial"/>
              </a:defRPr>
            </a:pPr>
            <a:r>
              <a:rPr sz="1050" b="0">
                <a:solidFill>
                  <a:srgbClr val="56716E"/>
                </a:solidFill>
                <a:latin typeface="Arial"/>
                <a:ea typeface="Arial"/>
                <a:cs typeface="Arial"/>
              </a:rPr>
              <a:t>FARAJA  /  UNIVERSITY GROUP PROJECT</a:t>
            </a:r>
          </a:p>
        </p:txBody>
      </p:sp>
      <p:sp>
        <p:nvSpPr>
          <p:cNvPr id="9" name="">
            <a:extLst xmlns:a="http://schemas.openxmlformats.org/drawingml/2006/main">
              <a:ext uri="{FF2B5EF4-FFF2-40B4-BE49-F238E27FC236}">
                <a16:creationId xmlns:a16="http://schemas.microsoft.com/office/drawing/2014/main" id="{B0A3764B-E3D0-44A7-B0B8-A5C7F3DF98D7}"/>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63C4A"/>
                </a:solidFill>
                <a:latin typeface="Arial"/>
                <a:ea typeface="Arial"/>
                <a:cs typeface="Arial"/>
              </a:defRPr>
            </a:pPr>
            <a:r>
              <a:rPr sz="1050" b="0">
                <a:solidFill>
                  <a:srgbClr val="163C4A"/>
                </a:solidFill>
                <a:latin typeface="Arial"/>
                <a:ea typeface="Arial"/>
                <a:cs typeface="Arial"/>
              </a:rPr>
              <a:t>10</a:t>
            </a:r>
          </a:p>
        </p:txBody>
      </p:sp>
    </p:spTree>
    <p:extLst>
      <p:ext uri="{BB962C8B-B14F-4D97-AF65-F5344CB8AC3E}">
        <p14:creationId xmlns:p14="http://schemas.microsoft.com/office/powerpoint/2010/main" val="1103760220"/>
      </p:ext>
    </p:extLst>
  </p:cSld>
</p:sld>
</file>

<file path=ppt/slides/slide11.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95E5B3B-07A1-496C-BB9B-CA71FE2023C2}"/>
              </a:ext>
            </a:extLst>
          </p:cNvPr>
          <p:cNvSpPr>
            <a:spLocks xmlns:a="http://schemas.openxmlformats.org/drawingml/2006/main" noGrp="1"/>
          </p:cNvSpPr>
          <p:nvPr/>
        </p:nvSpPr>
        <p:spPr>
          <a:xfrm xmlns:a="http://schemas.openxmlformats.org/drawingml/2006/main">
            <a:off x="685800" y="419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67B70"/>
                </a:solidFill>
                <a:latin typeface="Arial"/>
                <a:ea typeface="Arial"/>
                <a:cs typeface="Arial"/>
              </a:defRPr>
            </a:pPr>
            <a:r>
              <a:rPr sz="1350" b="1">
                <a:solidFill>
                  <a:srgbClr val="367B70"/>
                </a:solidFill>
                <a:latin typeface="Arial"/>
                <a:ea typeface="Arial"/>
                <a:cs typeface="Arial"/>
              </a:rPr>
              <a:t>PORTABILITY</a:t>
            </a:r>
          </a:p>
        </p:txBody>
      </p:sp>
      <p:sp>
        <p:nvSpPr>
          <p:cNvPr id="2" name="">
            <a:extLst xmlns:a="http://schemas.openxmlformats.org/drawingml/2006/main">
              <a:ext uri="{FF2B5EF4-FFF2-40B4-BE49-F238E27FC236}">
                <a16:creationId xmlns:a16="http://schemas.microsoft.com/office/drawing/2014/main" id="{20E6B3E4-87DF-420E-B97C-EED9582FBB33}"/>
              </a:ext>
            </a:extLst>
          </p:cNvPr>
          <p:cNvSpPr>
            <a:spLocks xmlns:a="http://schemas.openxmlformats.org/drawingml/2006/main" noGrp="1"/>
          </p:cNvSpPr>
          <p:nvPr/>
        </p:nvSpPr>
        <p:spPr>
          <a:xfrm xmlns:a="http://schemas.openxmlformats.org/drawingml/2006/main">
            <a:off x="685800" y="1066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C4A"/>
                </a:solidFill>
                <a:latin typeface="Arial"/>
                <a:ea typeface="Arial"/>
                <a:cs typeface="Arial"/>
              </a:defRPr>
            </a:pPr>
            <a:r>
              <a:rPr sz="3225" b="1">
                <a:solidFill>
                  <a:srgbClr val="163C4A"/>
                </a:solidFill>
                <a:latin typeface="Arial"/>
                <a:ea typeface="Arial"/>
                <a:cs typeface="Arial"/>
              </a:rPr>
              <a:t>Every member can run the source</a:t>
            </a:r>
          </a:p>
        </p:txBody>
      </p:sp>
      <p:sp>
        <p:nvSpPr>
          <p:cNvPr id="3" name="">
            <a:extLst xmlns:a="http://schemas.openxmlformats.org/drawingml/2006/main">
              <a:ext uri="{FF2B5EF4-FFF2-40B4-BE49-F238E27FC236}">
                <a16:creationId xmlns:a16="http://schemas.microsoft.com/office/drawing/2014/main" id="{25431192-5BA4-4918-95C6-0A124B2F1232}"/>
              </a:ext>
            </a:extLst>
          </p:cNvPr>
          <p:cNvSpPr>
            <a:spLocks xmlns:a="http://schemas.openxmlformats.org/drawingml/2006/main" noGrp="1"/>
          </p:cNvSpPr>
          <p:nvPr/>
        </p:nvSpPr>
        <p:spPr>
          <a:xfrm xmlns:a="http://schemas.openxmlformats.org/drawingml/2006/main">
            <a:off x="685800" y="23336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Install JDK 17, Maven and MySQL 8.</a:t>
            </a:r>
          </a:p>
        </p:txBody>
      </p:sp>
      <p:sp>
        <p:nvSpPr>
          <p:cNvPr id="4" name="">
            <a:extLst xmlns:a="http://schemas.openxmlformats.org/drawingml/2006/main">
              <a:ext uri="{FF2B5EF4-FFF2-40B4-BE49-F238E27FC236}">
                <a16:creationId xmlns:a16="http://schemas.microsoft.com/office/drawing/2014/main" id="{1F5A3D17-0391-46A1-A5DD-89A4FA75F0C6}"/>
              </a:ext>
            </a:extLst>
          </p:cNvPr>
          <p:cNvSpPr>
            <a:spLocks xmlns:a="http://schemas.openxmlformats.org/drawingml/2006/main" noGrp="1"/>
          </p:cNvSpPr>
          <p:nvPr/>
        </p:nvSpPr>
        <p:spPr>
          <a:xfrm xmlns:a="http://schemas.openxmlformats.org/drawingml/2006/main">
            <a:off x="685800" y="28670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Create database and app user; configure credentials.</a:t>
            </a:r>
          </a:p>
        </p:txBody>
      </p:sp>
      <p:sp>
        <p:nvSpPr>
          <p:cNvPr id="5" name="">
            <a:extLst xmlns:a="http://schemas.openxmlformats.org/drawingml/2006/main">
              <a:ext uri="{FF2B5EF4-FFF2-40B4-BE49-F238E27FC236}">
                <a16:creationId xmlns:a16="http://schemas.microsoft.com/office/drawing/2014/main" id="{F2736A97-6FE3-42F0-ACB0-397EF16A94A4}"/>
              </a:ext>
            </a:extLst>
          </p:cNvPr>
          <p:cNvSpPr>
            <a:spLocks xmlns:a="http://schemas.openxmlformats.org/drawingml/2006/main" noGrp="1"/>
          </p:cNvSpPr>
          <p:nvPr/>
        </p:nvSpPr>
        <p:spPr>
          <a:xfrm xmlns:a="http://schemas.openxmlformats.org/drawingml/2006/main">
            <a:off x="685800" y="34004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Run START-FARAJA.cmd on Windows.</a:t>
            </a:r>
          </a:p>
        </p:txBody>
      </p:sp>
      <p:sp>
        <p:nvSpPr>
          <p:cNvPr id="6" name="">
            <a:extLst xmlns:a="http://schemas.openxmlformats.org/drawingml/2006/main">
              <a:ext uri="{FF2B5EF4-FFF2-40B4-BE49-F238E27FC236}">
                <a16:creationId xmlns:a16="http://schemas.microsoft.com/office/drawing/2014/main" id="{EC592EF7-86DD-4EA7-BB18-0F681EFBB5E3}"/>
              </a:ext>
            </a:extLst>
          </p:cNvPr>
          <p:cNvSpPr>
            <a:spLocks xmlns:a="http://schemas.openxmlformats.org/drawingml/2006/main" noGrp="1"/>
          </p:cNvSpPr>
          <p:nvPr/>
        </p:nvSpPr>
        <p:spPr>
          <a:xfrm xmlns:a="http://schemas.openxmlformats.org/drawingml/2006/main">
            <a:off x="685800" y="39338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Or configure environment and run mvn spring-boot:run.</a:t>
            </a:r>
          </a:p>
        </p:txBody>
      </p:sp>
      <p:sp>
        <p:nvSpPr>
          <p:cNvPr id="7" name="">
            <a:extLst xmlns:a="http://schemas.openxmlformats.org/drawingml/2006/main">
              <a:ext uri="{FF2B5EF4-FFF2-40B4-BE49-F238E27FC236}">
                <a16:creationId xmlns:a16="http://schemas.microsoft.com/office/drawing/2014/main" id="{8BF86552-E4FD-4B84-A6C6-D6AA5B3BF10F}"/>
              </a:ext>
            </a:extLst>
          </p:cNvPr>
          <p:cNvSpPr>
            <a:spLocks xmlns:a="http://schemas.openxmlformats.org/drawingml/2006/main" noGrp="1"/>
          </p:cNvSpPr>
          <p:nvPr/>
        </p:nvSpPr>
        <p:spPr>
          <a:xfrm xmlns:a="http://schemas.openxmlformats.org/drawingml/2006/main">
            <a:off x="685800" y="44672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Open http://localhost:8080 and keep the server running.</a:t>
            </a:r>
          </a:p>
        </p:txBody>
      </p:sp>
      <p:sp>
        <p:nvSpPr>
          <p:cNvPr id="8" name="">
            <a:extLst xmlns:a="http://schemas.openxmlformats.org/drawingml/2006/main">
              <a:ext uri="{FF2B5EF4-FFF2-40B4-BE49-F238E27FC236}">
                <a16:creationId xmlns:a16="http://schemas.microsoft.com/office/drawing/2014/main" id="{B2C52256-16C8-4DE1-88C0-2ED469B37C47}"/>
              </a:ext>
            </a:extLst>
          </p:cNvPr>
          <p:cNvSpPr>
            <a:spLocks xmlns:a="http://schemas.openxmlformats.org/drawingml/2006/main" noGrp="1"/>
          </p:cNvSpPr>
          <p:nvPr/>
        </p:nvSpPr>
        <p:spPr>
          <a:xfrm xmlns:a="http://schemas.openxmlformats.org/drawingml/2006/main">
            <a:off x="68580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16E"/>
                </a:solidFill>
                <a:latin typeface="Arial"/>
                <a:ea typeface="Arial"/>
                <a:cs typeface="Arial"/>
              </a:defRPr>
            </a:pPr>
            <a:r>
              <a:rPr sz="1050" b="0">
                <a:solidFill>
                  <a:srgbClr val="56716E"/>
                </a:solidFill>
                <a:latin typeface="Arial"/>
                <a:ea typeface="Arial"/>
                <a:cs typeface="Arial"/>
              </a:rPr>
              <a:t>FARAJA  /  UNIVERSITY GROUP PROJECT</a:t>
            </a:r>
          </a:p>
        </p:txBody>
      </p:sp>
      <p:sp>
        <p:nvSpPr>
          <p:cNvPr id="9" name="">
            <a:extLst xmlns:a="http://schemas.openxmlformats.org/drawingml/2006/main">
              <a:ext uri="{FF2B5EF4-FFF2-40B4-BE49-F238E27FC236}">
                <a16:creationId xmlns:a16="http://schemas.microsoft.com/office/drawing/2014/main" id="{C306164A-6122-4EC2-89AD-4270D54D15C6}"/>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63C4A"/>
                </a:solidFill>
                <a:latin typeface="Arial"/>
                <a:ea typeface="Arial"/>
                <a:cs typeface="Arial"/>
              </a:defRPr>
            </a:pPr>
            <a:r>
              <a:rPr sz="1050" b="0">
                <a:solidFill>
                  <a:srgbClr val="163C4A"/>
                </a:solidFill>
                <a:latin typeface="Arial"/>
                <a:ea typeface="Arial"/>
                <a:cs typeface="Arial"/>
              </a:rPr>
              <a:t>11</a:t>
            </a:r>
          </a:p>
        </p:txBody>
      </p:sp>
    </p:spTree>
    <p:extLst>
      <p:ext uri="{BB962C8B-B14F-4D97-AF65-F5344CB8AC3E}">
        <p14:creationId xmlns:p14="http://schemas.microsoft.com/office/powerpoint/2010/main" val="638117656"/>
      </p:ext>
    </p:extLst>
  </p:cSld>
</p:sld>
</file>

<file path=ppt/slides/slide12.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ABF70E-3A1F-4043-B0F4-84E33CF6E01E}"/>
              </a:ext>
            </a:extLst>
          </p:cNvPr>
          <p:cNvSpPr>
            <a:spLocks xmlns:a="http://schemas.openxmlformats.org/drawingml/2006/main" noGrp="1"/>
          </p:cNvSpPr>
          <p:nvPr/>
        </p:nvSpPr>
        <p:spPr>
          <a:xfrm xmlns:a="http://schemas.openxmlformats.org/drawingml/2006/main">
            <a:off x="685800" y="419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67B70"/>
                </a:solidFill>
                <a:latin typeface="Arial"/>
                <a:ea typeface="Arial"/>
                <a:cs typeface="Arial"/>
              </a:defRPr>
            </a:pPr>
            <a:r>
              <a:rPr sz="1350" b="1">
                <a:solidFill>
                  <a:srgbClr val="367B70"/>
                </a:solidFill>
                <a:latin typeface="Arial"/>
                <a:ea typeface="Arial"/>
                <a:cs typeface="Arial"/>
              </a:rPr>
              <a:t>DEMO PLAN &amp; NEXT STEPS</a:t>
            </a:r>
          </a:p>
        </p:txBody>
      </p:sp>
      <p:sp>
        <p:nvSpPr>
          <p:cNvPr id="2" name="">
            <a:extLst xmlns:a="http://schemas.openxmlformats.org/drawingml/2006/main">
              <a:ext uri="{FF2B5EF4-FFF2-40B4-BE49-F238E27FC236}">
                <a16:creationId xmlns:a16="http://schemas.microsoft.com/office/drawing/2014/main" id="{08531803-B374-4CC5-8456-B7013F81FDF4}"/>
              </a:ext>
            </a:extLst>
          </p:cNvPr>
          <p:cNvSpPr>
            <a:spLocks xmlns:a="http://schemas.openxmlformats.org/drawingml/2006/main" noGrp="1"/>
          </p:cNvSpPr>
          <p:nvPr/>
        </p:nvSpPr>
        <p:spPr>
          <a:xfrm xmlns:a="http://schemas.openxmlformats.org/drawingml/2006/main">
            <a:off x="685800" y="1066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C4A"/>
                </a:solidFill>
                <a:latin typeface="Arial"/>
                <a:ea typeface="Arial"/>
                <a:cs typeface="Arial"/>
              </a:defRPr>
            </a:pPr>
            <a:r>
              <a:rPr sz="3225" b="1">
                <a:solidFill>
                  <a:srgbClr val="163C4A"/>
                </a:solidFill>
                <a:latin typeface="Arial"/>
                <a:ea typeface="Arial"/>
                <a:cs typeface="Arial"/>
              </a:rPr>
              <a:t>Presentation and handover</a:t>
            </a:r>
          </a:p>
        </p:txBody>
      </p:sp>
      <p:sp>
        <p:nvSpPr>
          <p:cNvPr id="3" name="">
            <a:extLst xmlns:a="http://schemas.openxmlformats.org/drawingml/2006/main">
              <a:ext uri="{FF2B5EF4-FFF2-40B4-BE49-F238E27FC236}">
                <a16:creationId xmlns:a16="http://schemas.microsoft.com/office/drawing/2014/main" id="{7962C8D2-CE95-4D62-9408-B3040D52C70D}"/>
              </a:ext>
            </a:extLst>
          </p:cNvPr>
          <p:cNvSpPr>
            <a:spLocks xmlns:a="http://schemas.openxmlformats.org/drawingml/2006/main" noGrp="1"/>
          </p:cNvSpPr>
          <p:nvPr/>
        </p:nvSpPr>
        <p:spPr>
          <a:xfrm xmlns:a="http://schemas.openxmlformats.org/drawingml/2006/main">
            <a:off x="685800" y="23336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Show one patient through the complete workflow.</a:t>
            </a:r>
          </a:p>
        </p:txBody>
      </p:sp>
      <p:sp>
        <p:nvSpPr>
          <p:cNvPr id="4" name="">
            <a:extLst xmlns:a="http://schemas.openxmlformats.org/drawingml/2006/main">
              <a:ext uri="{FF2B5EF4-FFF2-40B4-BE49-F238E27FC236}">
                <a16:creationId xmlns:a16="http://schemas.microsoft.com/office/drawing/2014/main" id="{D986FA9E-7C01-477B-AFA0-D18C23C7F832}"/>
              </a:ext>
            </a:extLst>
          </p:cNvPr>
          <p:cNvSpPr>
            <a:spLocks xmlns:a="http://schemas.openxmlformats.org/drawingml/2006/main" noGrp="1"/>
          </p:cNvSpPr>
          <p:nvPr/>
        </p:nvSpPr>
        <p:spPr>
          <a:xfrm xmlns:a="http://schemas.openxmlformats.org/drawingml/2006/main">
            <a:off x="685800" y="28670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Explain one API request and its database relationship.</a:t>
            </a:r>
          </a:p>
        </p:txBody>
      </p:sp>
      <p:sp>
        <p:nvSpPr>
          <p:cNvPr id="5" name="">
            <a:extLst xmlns:a="http://schemas.openxmlformats.org/drawingml/2006/main">
              <a:ext uri="{FF2B5EF4-FFF2-40B4-BE49-F238E27FC236}">
                <a16:creationId xmlns:a16="http://schemas.microsoft.com/office/drawing/2014/main" id="{2875D169-34A2-4FD0-A3BF-2D2ED2270775}"/>
              </a:ext>
            </a:extLst>
          </p:cNvPr>
          <p:cNvSpPr>
            <a:spLocks xmlns:a="http://schemas.openxmlformats.org/drawingml/2006/main" noGrp="1"/>
          </p:cNvSpPr>
          <p:nvPr/>
        </p:nvSpPr>
        <p:spPr>
          <a:xfrm xmlns:a="http://schemas.openxmlformats.org/drawingml/2006/main">
            <a:off x="685800" y="34004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Share source and instructions with every member.</a:t>
            </a:r>
          </a:p>
        </p:txBody>
      </p:sp>
      <p:sp>
        <p:nvSpPr>
          <p:cNvPr id="6" name="">
            <a:extLst xmlns:a="http://schemas.openxmlformats.org/drawingml/2006/main">
              <a:ext uri="{FF2B5EF4-FFF2-40B4-BE49-F238E27FC236}">
                <a16:creationId xmlns:a16="http://schemas.microsoft.com/office/drawing/2014/main" id="{403575EA-6C22-4ABF-8ED3-E24DA5354095}"/>
              </a:ext>
            </a:extLst>
          </p:cNvPr>
          <p:cNvSpPr>
            <a:spLocks xmlns:a="http://schemas.openxmlformats.org/drawingml/2006/main" noGrp="1"/>
          </p:cNvSpPr>
          <p:nvPr/>
        </p:nvSpPr>
        <p:spPr>
          <a:xfrm xmlns:a="http://schemas.openxmlformats.org/drawingml/2006/main">
            <a:off x="685800" y="39338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Fill group details and record actual contributions.</a:t>
            </a:r>
          </a:p>
        </p:txBody>
      </p:sp>
      <p:sp>
        <p:nvSpPr>
          <p:cNvPr id="7" name="">
            <a:extLst xmlns:a="http://schemas.openxmlformats.org/drawingml/2006/main">
              <a:ext uri="{FF2B5EF4-FFF2-40B4-BE49-F238E27FC236}">
                <a16:creationId xmlns:a16="http://schemas.microsoft.com/office/drawing/2014/main" id="{60662383-F5A6-41FC-A7F0-15B6F63392D9}"/>
              </a:ext>
            </a:extLst>
          </p:cNvPr>
          <p:cNvSpPr>
            <a:spLocks xmlns:a="http://schemas.openxmlformats.org/drawingml/2006/main" noGrp="1"/>
          </p:cNvSpPr>
          <p:nvPr/>
        </p:nvSpPr>
        <p:spPr>
          <a:xfrm xmlns:a="http://schemas.openxmlformats.org/drawingml/2006/main">
            <a:off x="685800" y="44672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4A"/>
                </a:solidFill>
                <a:latin typeface="Arial"/>
                <a:ea typeface="Arial"/>
                <a:cs typeface="Arial"/>
              </a:defRPr>
            </a:pPr>
            <a:r>
              <a:rPr sz="2175" b="0">
                <a:solidFill>
                  <a:srgbClr val="163C4A"/>
                </a:solidFill>
                <a:latin typeface="Arial"/>
                <a:ea typeface="Arial"/>
                <a:cs typeface="Arial"/>
              </a:rPr>
              <a:t>Public deployment: configure hosting, then verify HTTPS.</a:t>
            </a:r>
          </a:p>
        </p:txBody>
      </p:sp>
      <p:sp>
        <p:nvSpPr>
          <p:cNvPr id="8" name="">
            <a:extLst xmlns:a="http://schemas.openxmlformats.org/drawingml/2006/main">
              <a:ext uri="{FF2B5EF4-FFF2-40B4-BE49-F238E27FC236}">
                <a16:creationId xmlns:a16="http://schemas.microsoft.com/office/drawing/2014/main" id="{89D1EAFD-95A4-4C93-9A45-1C58DCE7AB66}"/>
              </a:ext>
            </a:extLst>
          </p:cNvPr>
          <p:cNvSpPr>
            <a:spLocks xmlns:a="http://schemas.openxmlformats.org/drawingml/2006/main" noGrp="1"/>
          </p:cNvSpPr>
          <p:nvPr/>
        </p:nvSpPr>
        <p:spPr>
          <a:xfrm xmlns:a="http://schemas.openxmlformats.org/drawingml/2006/main">
            <a:off x="68580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16E"/>
                </a:solidFill>
                <a:latin typeface="Arial"/>
                <a:ea typeface="Arial"/>
                <a:cs typeface="Arial"/>
              </a:defRPr>
            </a:pPr>
            <a:r>
              <a:rPr sz="1050" b="0">
                <a:solidFill>
                  <a:srgbClr val="56716E"/>
                </a:solidFill>
                <a:latin typeface="Arial"/>
                <a:ea typeface="Arial"/>
                <a:cs typeface="Arial"/>
              </a:rPr>
              <a:t>FARAJA  /  UNIVERSITY GROUP PROJECT</a:t>
            </a:r>
          </a:p>
        </p:txBody>
      </p:sp>
      <p:sp>
        <p:nvSpPr>
          <p:cNvPr id="9" name="">
            <a:extLst xmlns:a="http://schemas.openxmlformats.org/drawingml/2006/main">
              <a:ext uri="{FF2B5EF4-FFF2-40B4-BE49-F238E27FC236}">
                <a16:creationId xmlns:a16="http://schemas.microsoft.com/office/drawing/2014/main" id="{030CE514-601E-4D17-A73D-8B28582890F2}"/>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63C4A"/>
                </a:solidFill>
                <a:latin typeface="Arial"/>
                <a:ea typeface="Arial"/>
                <a:cs typeface="Arial"/>
              </a:defRPr>
            </a:pPr>
            <a:r>
              <a:rPr sz="1050" b="0">
                <a:solidFill>
                  <a:srgbClr val="163C4A"/>
                </a:solidFill>
                <a:latin typeface="Arial"/>
                <a:ea typeface="Arial"/>
                <a:cs typeface="Arial"/>
              </a:rPr>
              <a:t>12</a:t>
            </a:r>
          </a:p>
        </p:txBody>
      </p:sp>
    </p:spTree>
    <p:extLst>
      <p:ext uri="{BB962C8B-B14F-4D97-AF65-F5344CB8AC3E}">
        <p14:creationId xmlns:p14="http://schemas.microsoft.com/office/powerpoint/2010/main" val="18621796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2026-10-03T12:58:27.7680000Z</dcterms:created>
  <dcterms:modified xsi:type="dcterms:W3CDTF">2026-10-03T12:58:27.7690000Z</dcterms:modified>
</coreProperties>
</file>